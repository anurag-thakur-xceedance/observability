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0" r:id="rId5"/>
    <p:sldId id="262" r:id="rId6"/>
    <p:sldId id="263" r:id="rId7"/>
    <p:sldId id="264" r:id="rId8"/>
    <p:sldId id="267" r:id="rId9"/>
    <p:sldId id="268" r:id="rId10"/>
    <p:sldId id="261" r:id="rId11"/>
    <p:sldId id="265" r:id="rId12"/>
    <p:sldId id="266" r:id="rId13"/>
    <p:sldId id="25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mon Armstrong" initials="SA" lastIdx="4" clrIdx="0">
    <p:extLst>
      <p:ext uri="{19B8F6BF-5375-455C-9EA6-DF929625EA0E}">
        <p15:presenceInfo xmlns:p15="http://schemas.microsoft.com/office/powerpoint/2012/main" userId="S::simon.armstrong@xceedance.com::25bf7e7e-18dd-450f-aea5-90996c2a05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83684" autoAdjust="0"/>
  </p:normalViewPr>
  <p:slideViewPr>
    <p:cSldViewPr snapToGrid="0" snapToObjects="1">
      <p:cViewPr varScale="1">
        <p:scale>
          <a:sx n="80" d="100"/>
          <a:sy n="80" d="100"/>
        </p:scale>
        <p:origin x="667"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12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strategic conversation, not a technical one. Frame the presentation as the modernization of how we run the business operationally — every customer-facing service, from Underwriting to Claims to FNOL</a:t>
            </a:r>
            <a:r>
              <a:rPr lang="en-IN" dirty="0"/>
              <a:t> (First Notice of Loss)</a:t>
            </a:r>
            <a:r>
              <a:rPr dirty="0"/>
              <a:t>, is underpinned by what we are about to discuss. The </a:t>
            </a:r>
            <a:r>
              <a:rPr lang="en-IN" sz="1200" b="0" dirty="0">
                <a:solidFill>
                  <a:srgbClr val="FFFFFF"/>
                </a:solidFill>
                <a:latin typeface="Segoe UI"/>
              </a:rPr>
              <a:t>Senior Management</a:t>
            </a:r>
            <a:r>
              <a:rPr dirty="0"/>
              <a:t> is being asked to endorse a direction, ratify foundational architectural decisions, and authorize the first phase of execution. Keep the discussion at the level of business outcomes: customer trust, operational resilience, and the freeing of engineering capacity for growth.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cost of inaction is not abstract. Every quarter we delay, we continue to lose engineering capacity to incident response, we continue to pay for overlapping tools, and we continue to learn about outages from customers rather than from our own systems. The window of opportunity is real: open standards have matured to the point where we can build a future-proof platform without locking ourselves into any single vendor. The board should hear this as a modernization investment with compounding returns — every phase makes the next phase cheaper and faster.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grounds the conversation in evidence rather than opinion. The 'today' column is uncomfortable but accurate; it is the picture our own teams describe when interviewed. The 'future state' column is not aspirational marketing — each item is tied to a measurable acceptance criterion in the underlying program plan. If pressed on which gap concerns leadership most, point to governance and cost discipline: without those, every other dimension regresses within a couple of quarters of any platform refresh.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Dwell on this slide. Each bullet maps to a board-level concern: reliability speaks to the regulator and rating agency view, speed of recovery to operational risk, customer experience to NPS and retention, resilience to business continuity, and growth to the CFO's interest in delivery throughput. The error-budget mechanism deserves particular attention — it is the institutional discipline that automatically slows feature releases on any service that has consumed its reliability allowance. This is how we hard-wire the trade-off between speed and stability into the operating model rather than relying on case-by-case judgement.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financial story here is unusually favourable: this is not a 'spend money now to save money in five years' pitch. The savings from tool consolidation in Phase 1 substantially fund the more ambitious capabilities in later phases. We are not asking for new headcount of any scale — we are asking for a focused squad that becomes the centre of excellence and uses the Community of Practice model to scale enablement across existing teams. The single largest cost risk in any observability program is uncontrolled telemetry growth; our FinOps standard is designed specifically to govern that, with budget envelopes and automated escalation built in from day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phased approach is deliberately conservative. Each phase delivers standalone value: even if Phase 3 were deferred, Phases 1 and 2 alone would justify the investment. The phase-gate mechanism is critical — we will not advance on the basis of activity, only on the basis of measured outcomes sustained over time. This is how we protect the board from the classic transformation failure mode of milestones-met-but-value-not-delivered. The governance review at each gate is the formal checkpoint where leadership retains the option to pause, accelerate, or redirect the program.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Governance is the single biggest determinant of long-term success — more so than tooling, more so than talent. Four bodies, clear remit, no overlap. Every material decision becomes an Architectural Decision Record, which gives us a defensible audit trail. The Exception Panel deserves particular emphasis: every standards exception is approved, time-boxed, and tracked, which means there are no permanent exceptions — this is the single most important guard against the slow erosion of standards that destroys most enterprise platforms over time. We will report governance outcomes to the Technology Committee of the Board on a regular cadence.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Frames observability value in the language of Xceedance's five service lines, not internal IT. Each row maps to client-facing outcomes the board recognises: SLA performance, claims economics, platform reliability, data trust, advisory credibility.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for the audit-committee perspective in the room. Observability done poorly creates compliance risk — telemetry can become a back door for sensitive data exfiltration. Observability done well becomes a continuous compliance asset. We have engineered for the latter from day one: PII redaction is enforced at the collection layer rather than at the destination, so sensitive data never reaches our storage systems. The watch-list items are flagged because they represent emerging regulations that will likely apply to our European operations in the near term — we are positioning the platform to absorb them without re-architecture.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sequenced these risks by likelihood and material impact. The migration-debt risk is the most certain — every consolidation surfaces hidden complexity — and we mitigate with parallel running and a published decommissioning schedule. The cost risk is the one most often underestimated in observability programs; our FinOps standard institutes hard budget envelopes per service tier with automated escalation, which prevents quiet runaway spend. The adoption risk is rated relatively low because we are using a pull model — engineers genuinely want better tools, and we are giving them better tools rather than imposing process.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pillars, deliberately simplified for this audience. The decisive message is the fourth pillar — Business Insights. This is what separates modern observability from traditional IT monitoring: we will instrument value streams such as Quote-to-Bind and FNOL-to-Settlement, so that for the first time we can connect a technical event to a business consequence in real time. The choice of an open standard is strategically important: it is what guarantees we are never trapped by a vendor's pricing model or product roadmap.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rPr lang="en-US"/>
              <a:t>Hold here while the room shifts from presentation to discussion. Three decisions are being sought today: endorsement of the strategic direction, ratification of the open-standard foundation, and authorisation of the Phase 1 scope and funding envelope. Take questions in order of seniority; defer detailed technical questions to the appendix slides that follow.</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rPr lang="en-US"/>
              <a:t>Transition cue: the remaining slides are reference material, not part of the core narrative. Use them on demand if questions surface on business-line value, compliance posture, risk register, or the underlying pillar model. Do not walk through them sequentially unless the room asks.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429000"/>
            <a:ext cx="12191695" cy="3429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2011680"/>
            <a:ext cx="1371600" cy="73152"/>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103120"/>
            <a:ext cx="10515600" cy="1005840"/>
          </a:xfrm>
          <a:prstGeom prst="rect">
            <a:avLst/>
          </a:prstGeom>
          <a:noFill/>
        </p:spPr>
        <p:txBody>
          <a:bodyPr wrap="square" lIns="45720" tIns="18288" rIns="45720" bIns="18288" anchor="t">
            <a:spAutoFit/>
          </a:bodyPr>
          <a:lstStyle/>
          <a:p>
            <a:pPr algn="l"/>
            <a:r>
              <a:rPr sz="4800" b="1">
                <a:solidFill>
                  <a:srgbClr val="FFFFFF"/>
                </a:solidFill>
                <a:latin typeface="Segoe UI"/>
              </a:rPr>
              <a:t>Observability Strategy Rollout</a:t>
            </a:r>
          </a:p>
        </p:txBody>
      </p:sp>
      <p:sp>
        <p:nvSpPr>
          <p:cNvPr id="6" name="TextBox 5"/>
          <p:cNvSpPr txBox="1"/>
          <p:nvPr/>
        </p:nvSpPr>
        <p:spPr>
          <a:xfrm>
            <a:off x="822960" y="3200400"/>
            <a:ext cx="10515600" cy="640080"/>
          </a:xfrm>
          <a:prstGeom prst="rect">
            <a:avLst/>
          </a:prstGeom>
          <a:noFill/>
        </p:spPr>
        <p:txBody>
          <a:bodyPr wrap="square" lIns="45720" tIns="18288" rIns="45720" bIns="18288" anchor="t">
            <a:spAutoFit/>
          </a:bodyPr>
          <a:lstStyle/>
          <a:p>
            <a:pPr algn="l"/>
            <a:r>
              <a:rPr sz="2600" b="0" dirty="0">
                <a:solidFill>
                  <a:srgbClr val="FFFFFF"/>
                </a:solidFill>
                <a:latin typeface="Segoe UI"/>
              </a:rPr>
              <a:t>From Reactive Firefighting to Proactive Intelligence</a:t>
            </a:r>
          </a:p>
        </p:txBody>
      </p:sp>
      <p:sp>
        <p:nvSpPr>
          <p:cNvPr id="7" name="TextBox 6"/>
          <p:cNvSpPr txBox="1"/>
          <p:nvPr/>
        </p:nvSpPr>
        <p:spPr>
          <a:xfrm>
            <a:off x="822960" y="493776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Presented to:  Senior Management</a:t>
            </a:r>
          </a:p>
        </p:txBody>
      </p:sp>
      <p:sp>
        <p:nvSpPr>
          <p:cNvPr id="8" name="TextBox 7"/>
          <p:cNvSpPr txBox="1"/>
          <p:nvPr/>
        </p:nvSpPr>
        <p:spPr>
          <a:xfrm>
            <a:off x="822960" y="534924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Prepared by:  Office of the </a:t>
            </a:r>
            <a:r>
              <a:rPr lang="en-IN" sz="1600" b="0" dirty="0">
                <a:solidFill>
                  <a:srgbClr val="FFFFFF"/>
                </a:solidFill>
                <a:latin typeface="Segoe UI"/>
              </a:rPr>
              <a:t>CoE Architecture</a:t>
            </a:r>
            <a:endParaRPr sz="1600" b="0" dirty="0">
              <a:solidFill>
                <a:srgbClr val="FFFFFF"/>
              </a:solidFill>
              <a:latin typeface="Segoe UI"/>
            </a:endParaRPr>
          </a:p>
        </p:txBody>
      </p:sp>
      <p:sp>
        <p:nvSpPr>
          <p:cNvPr id="9" name="TextBox 8"/>
          <p:cNvSpPr txBox="1"/>
          <p:nvPr/>
        </p:nvSpPr>
        <p:spPr>
          <a:xfrm>
            <a:off x="822960" y="5760720"/>
            <a:ext cx="10515600" cy="365760"/>
          </a:xfrm>
          <a:prstGeom prst="rect">
            <a:avLst/>
          </a:prstGeom>
          <a:noFill/>
        </p:spPr>
        <p:txBody>
          <a:bodyPr wrap="square" lIns="45720" tIns="18288" rIns="45720" bIns="18288" anchor="t">
            <a:spAutoFit/>
          </a:bodyPr>
          <a:lstStyle/>
          <a:p>
            <a:pPr algn="l"/>
            <a:r>
              <a:rPr sz="1600" b="1" dirty="0">
                <a:solidFill>
                  <a:srgbClr val="C9A427"/>
                </a:solidFill>
                <a:latin typeface="Segoe UI"/>
              </a:rPr>
              <a:t>Status:  Decision &amp; Approval Required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pPr algn="l"/>
            <a:r>
              <a:rPr sz="1400" b="0" dirty="0">
                <a:solidFill>
                  <a:srgbClr val="555555"/>
                </a:solidFill>
                <a:latin typeface="Segoe UI"/>
              </a:rPr>
              <a:t>Observability Strategy  |  </a:t>
            </a:r>
            <a:r>
              <a:rPr lang="en-IN" sz="1400" b="0" dirty="0">
                <a:solidFill>
                  <a:srgbClr val="555555"/>
                </a:solidFill>
                <a:latin typeface="Segoe UI"/>
              </a:rPr>
              <a:t>Senior Management</a:t>
            </a:r>
            <a:endParaRPr sz="1400" b="0" dirty="0">
              <a:solidFill>
                <a:srgbClr val="555555"/>
              </a:solidFill>
              <a:latin typeface="Segoe UI"/>
            </a:endParaRP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Executive Summary — Why Now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644972"/>
          </a:xfrm>
          <a:prstGeom prst="rect">
            <a:avLst/>
          </a:prstGeom>
          <a:noFill/>
        </p:spPr>
        <p:txBody>
          <a:bodyPr wrap="square" lIns="45720" rIns="45720">
            <a:spAutoFit/>
          </a:bodyPr>
          <a:lstStyle/>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Our current operating posture is </a:t>
            </a:r>
            <a:r>
              <a:rPr sz="2000" b="1" dirty="0">
                <a:solidFill>
                  <a:srgbClr val="1F1F1F"/>
                </a:solidFill>
                <a:latin typeface="Segoe UI"/>
              </a:rPr>
              <a:t>reactive</a:t>
            </a:r>
            <a:r>
              <a:rPr sz="2000" b="0" dirty="0">
                <a:solidFill>
                  <a:srgbClr val="1F1F1F"/>
                </a:solidFill>
                <a:latin typeface="Segoe UI"/>
              </a:rPr>
              <a:t>: incidents are discovered through customer complaints rather than internal signals.</a:t>
            </a:r>
          </a:p>
          <a:p>
            <a:pPr marL="342900" indent="-342900" algn="l">
              <a:lnSpc>
                <a:spcPct val="125000"/>
              </a:lnSpc>
              <a:spcAft>
                <a:spcPts val="1000"/>
              </a:spcAft>
              <a:buFont typeface="Arial" panose="020B0604020202020204" pitchFamily="34" charset="0"/>
              <a:buChar char="•"/>
            </a:pPr>
            <a:r>
              <a:rPr sz="2000" b="1" dirty="0">
                <a:solidFill>
                  <a:srgbClr val="1F1F1F"/>
                </a:solidFill>
                <a:latin typeface="Segoe UI"/>
              </a:rPr>
              <a:t>Tool sprawl </a:t>
            </a:r>
            <a:r>
              <a:rPr sz="2000" b="0" dirty="0">
                <a:solidFill>
                  <a:srgbClr val="1F1F1F"/>
                </a:solidFill>
                <a:latin typeface="Segoe UI"/>
              </a:rPr>
              <a:t>has created blind </a:t>
            </a:r>
            <a:r>
              <a:rPr sz="2000" dirty="0">
                <a:solidFill>
                  <a:srgbClr val="1F1F1F"/>
                </a:solidFill>
                <a:latin typeface="Segoe UI"/>
              </a:rPr>
              <a:t>spots</a:t>
            </a:r>
            <a:r>
              <a:rPr sz="2000" b="0" dirty="0">
                <a:solidFill>
                  <a:srgbClr val="1F1F1F"/>
                </a:solidFill>
                <a:latin typeface="Segoe UI"/>
              </a:rPr>
              <a:t>, duplicated spend, and inconsistent service quality across business lines.</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A unified observability capability moves us from </a:t>
            </a:r>
            <a:r>
              <a:rPr sz="2000" b="1" dirty="0">
                <a:solidFill>
                  <a:srgbClr val="1F1F1F"/>
                </a:solidFill>
                <a:latin typeface="Segoe UI"/>
              </a:rPr>
              <a:t>detecting failure to anticipating it</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The result is </a:t>
            </a:r>
            <a:r>
              <a:rPr sz="2000" b="1" dirty="0">
                <a:solidFill>
                  <a:srgbClr val="1F1F1F"/>
                </a:solidFill>
                <a:latin typeface="Segoe UI"/>
              </a:rPr>
              <a:t>faster recovery, fewer customer-visible incidents, and engineering capacity redirected from firefighting to growth</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This is a </a:t>
            </a:r>
            <a:r>
              <a:rPr sz="2000" b="1" dirty="0">
                <a:solidFill>
                  <a:srgbClr val="1F1F1F"/>
                </a:solidFill>
                <a:latin typeface="Segoe UI"/>
              </a:rPr>
              <a:t>competitive differentiator</a:t>
            </a:r>
            <a:r>
              <a:rPr sz="2000" b="0" dirty="0">
                <a:solidFill>
                  <a:srgbClr val="1F1F1F"/>
                </a:solidFill>
                <a:latin typeface="Segoe UI"/>
              </a:rPr>
              <a:t> for an</a:t>
            </a:r>
            <a:r>
              <a:rPr lang="en-IN" sz="2000" b="0" dirty="0">
                <a:solidFill>
                  <a:srgbClr val="1F1F1F"/>
                </a:solidFill>
                <a:latin typeface="Segoe UI"/>
              </a:rPr>
              <a:t>y</a:t>
            </a:r>
            <a:r>
              <a:rPr sz="2000" b="0" dirty="0">
                <a:solidFill>
                  <a:srgbClr val="1F1F1F"/>
                </a:solidFill>
                <a:latin typeface="Segoe UI"/>
              </a:rPr>
              <a:t> </a:t>
            </a:r>
            <a:r>
              <a:rPr lang="en-IN" sz="2000" b="0" dirty="0">
                <a:solidFill>
                  <a:srgbClr val="1F1F1F"/>
                </a:solidFill>
                <a:latin typeface="Segoe UI"/>
              </a:rPr>
              <a:t>organisation</a:t>
            </a:r>
            <a:r>
              <a:rPr sz="2000" b="0" dirty="0">
                <a:solidFill>
                  <a:srgbClr val="1F1F1F"/>
                </a:solidFill>
                <a:latin typeface="Segoe UI"/>
              </a:rPr>
              <a:t>.</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pPr algn="l"/>
            <a:r>
              <a:rPr sz="1000" b="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2</a:t>
            </a:fld>
            <a:endParaRPr sz="1000" b="0">
              <a:solidFill>
                <a:srgbClr val="555555"/>
              </a:solidFill>
              <a:latin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Current State vs. Future Vision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729747202"/>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01040">
                <a:tc>
                  <a:txBody>
                    <a:bodyPr/>
                    <a:lstStyle/>
                    <a:p>
                      <a:pPr algn="ctr"/>
                      <a:r>
                        <a:rPr sz="1500" b="1" dirty="0">
                          <a:solidFill>
                            <a:srgbClr val="FFFFFF"/>
                          </a:solidFill>
                          <a:latin typeface="Segoe UI"/>
                        </a:rPr>
                        <a:t>Dimension</a:t>
                      </a:r>
                    </a:p>
                  </a:txBody>
                  <a:tcPr marT="54864" marB="54864" anchor="ctr">
                    <a:solidFill>
                      <a:srgbClr val="0B3D91"/>
                    </a:solidFill>
                  </a:tcPr>
                </a:tc>
                <a:tc>
                  <a:txBody>
                    <a:bodyPr/>
                    <a:lstStyle/>
                    <a:p>
                      <a:pPr algn="ctr"/>
                      <a:r>
                        <a:rPr sz="1500" b="1" dirty="0">
                          <a:solidFill>
                            <a:srgbClr val="FFFFFF"/>
                          </a:solidFill>
                          <a:latin typeface="Segoe UI"/>
                        </a:rPr>
                        <a:t>Today</a:t>
                      </a:r>
                    </a:p>
                  </a:txBody>
                  <a:tcPr marT="54864" marB="54864" anchor="ctr">
                    <a:solidFill>
                      <a:srgbClr val="0B3D91"/>
                    </a:solidFill>
                  </a:tcPr>
                </a:tc>
                <a:tc>
                  <a:txBody>
                    <a:bodyPr/>
                    <a:lstStyle/>
                    <a:p>
                      <a:pPr algn="ctr"/>
                      <a:r>
                        <a:rPr sz="1500" b="1" dirty="0">
                          <a:solidFill>
                            <a:srgbClr val="FFFFFF"/>
                          </a:solidFill>
                          <a:latin typeface="Segoe UI"/>
                        </a:rPr>
                        <a:t>Future State</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500" b="1" dirty="0">
                          <a:solidFill>
                            <a:srgbClr val="0B3D91"/>
                          </a:solidFill>
                          <a:latin typeface="Segoe UI"/>
                        </a:rPr>
                        <a:t>Visibility</a:t>
                      </a:r>
                    </a:p>
                  </a:txBody>
                  <a:tcPr marT="54864" marB="54864" anchor="ctr">
                    <a:solidFill>
                      <a:srgbClr val="FFFFFF"/>
                    </a:solidFill>
                  </a:tcPr>
                </a:tc>
                <a:tc>
                  <a:txBody>
                    <a:bodyPr/>
                    <a:lstStyle/>
                    <a:p>
                      <a:pPr algn="l"/>
                      <a:r>
                        <a:rPr sz="1500" b="0">
                          <a:solidFill>
                            <a:srgbClr val="1F1F1F"/>
                          </a:solidFill>
                          <a:latin typeface="Segoe UI"/>
                        </a:rPr>
                        <a:t>Foundations exist in pockets via Ian Core; not yet unified across services</a:t>
                      </a:r>
                    </a:p>
                  </a:txBody>
                  <a:tcPr marT="54864" marB="54864" anchor="ctr">
                    <a:solidFill>
                      <a:srgbClr val="FFFFFF"/>
                    </a:solidFill>
                  </a:tcPr>
                </a:tc>
                <a:tc>
                  <a:txBody>
                    <a:bodyPr/>
                    <a:lstStyle/>
                    <a:p>
                      <a:pPr algn="l"/>
                      <a:r>
                        <a:rPr sz="1500" b="0" dirty="0">
                          <a:solidFill>
                            <a:srgbClr val="1F1F1F"/>
                          </a:solidFill>
                          <a:latin typeface="Segoe UI"/>
                        </a:rPr>
                        <a:t>Single pane of glass across all services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500" b="1">
                          <a:solidFill>
                            <a:srgbClr val="0B3D91"/>
                          </a:solidFill>
                          <a:latin typeface="Segoe UI"/>
                        </a:rPr>
                        <a:t>Detection</a:t>
                      </a:r>
                    </a:p>
                  </a:txBody>
                  <a:tcPr marT="54864" marB="54864" anchor="ctr">
                    <a:solidFill>
                      <a:srgbClr val="EEF1F7"/>
                    </a:solidFill>
                  </a:tcPr>
                </a:tc>
                <a:tc>
                  <a:txBody>
                    <a:bodyPr/>
                    <a:lstStyle/>
                    <a:p>
                      <a:pPr algn="l"/>
                      <a:r>
                        <a:rPr sz="1500" b="0" dirty="0">
                          <a:solidFill>
                            <a:srgbClr val="1F1F1F"/>
                          </a:solidFill>
                          <a:latin typeface="Segoe UI"/>
                        </a:rPr>
                        <a:t>Some teams detect early; many incidents still surfaced by customers</a:t>
                      </a:r>
                    </a:p>
                  </a:txBody>
                  <a:tcPr marT="54864" marB="54864" anchor="ctr">
                    <a:solidFill>
                      <a:srgbClr val="EEF1F7"/>
                    </a:solidFill>
                  </a:tcPr>
                </a:tc>
                <a:tc>
                  <a:txBody>
                    <a:bodyPr/>
                    <a:lstStyle/>
                    <a:p>
                      <a:pPr algn="l"/>
                      <a:r>
                        <a:rPr sz="1500" b="0" dirty="0">
                          <a:solidFill>
                            <a:srgbClr val="1F1F1F"/>
                          </a:solidFill>
                          <a:latin typeface="Segoe UI"/>
                        </a:rPr>
                        <a:t>Internal systems detect before customer impact</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500" b="1">
                          <a:solidFill>
                            <a:srgbClr val="0B3D91"/>
                          </a:solidFill>
                          <a:latin typeface="Segoe UI"/>
                        </a:rPr>
                        <a:t>Diagnosis</a:t>
                      </a:r>
                    </a:p>
                  </a:txBody>
                  <a:tcPr marT="54864" marB="54864" anchor="ctr">
                    <a:solidFill>
                      <a:srgbClr val="FFFFFF"/>
                    </a:solidFill>
                  </a:tcPr>
                </a:tc>
                <a:tc>
                  <a:txBody>
                    <a:bodyPr/>
                    <a:lstStyle/>
                    <a:p>
                      <a:pPr algn="l"/>
                      <a:r>
                        <a:rPr sz="1500" b="0" dirty="0">
                          <a:solidFill>
                            <a:srgbClr val="1F1F1F"/>
                          </a:solidFill>
                          <a:latin typeface="Segoe UI"/>
                        </a:rPr>
                        <a:t>Investigation depends on tribal knowledge and manual correlation</a:t>
                      </a:r>
                    </a:p>
                  </a:txBody>
                  <a:tcPr marT="54864" marB="54864" anchor="ctr">
                    <a:solidFill>
                      <a:srgbClr val="FFFFFF"/>
                    </a:solidFill>
                  </a:tcPr>
                </a:tc>
                <a:tc>
                  <a:txBody>
                    <a:bodyPr/>
                    <a:lstStyle/>
                    <a:p>
                      <a:pPr algn="l"/>
                      <a:r>
                        <a:rPr sz="1500" b="0" dirty="0">
                          <a:solidFill>
                            <a:srgbClr val="1F1F1F"/>
                          </a:solidFill>
                          <a:latin typeface="Segoe UI"/>
                        </a:rPr>
                        <a:t>AI-assisted, evidence-backed diagnosis</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500" b="1">
                          <a:solidFill>
                            <a:srgbClr val="0B3D91"/>
                          </a:solidFill>
                          <a:latin typeface="Segoe UI"/>
                        </a:rPr>
                        <a:t>Coverage</a:t>
                      </a:r>
                    </a:p>
                  </a:txBody>
                  <a:tcPr marT="54864" marB="54864" anchor="ctr">
                    <a:solidFill>
                      <a:srgbClr val="EEF1F7"/>
                    </a:solidFill>
                  </a:tcPr>
                </a:tc>
                <a:tc>
                  <a:txBody>
                    <a:bodyPr/>
                    <a:lstStyle/>
                    <a:p>
                      <a:pPr algn="l"/>
                      <a:r>
                        <a:rPr sz="1500" b="0" dirty="0">
                          <a:solidFill>
                            <a:srgbClr val="1F1F1F"/>
                          </a:solidFill>
                          <a:latin typeface="Segoe UI"/>
                        </a:rPr>
                        <a:t>Coverage uneven across services and layers</a:t>
                      </a:r>
                    </a:p>
                  </a:txBody>
                  <a:tcPr marT="54864" marB="54864" anchor="ctr">
                    <a:solidFill>
                      <a:srgbClr val="EEF1F7"/>
                    </a:solidFill>
                  </a:tcPr>
                </a:tc>
                <a:tc>
                  <a:txBody>
                    <a:bodyPr/>
                    <a:lstStyle/>
                    <a:p>
                      <a:pPr algn="l"/>
                      <a:r>
                        <a:rPr sz="1500" b="0" dirty="0">
                          <a:solidFill>
                            <a:srgbClr val="1F1F1F"/>
                          </a:solidFill>
                          <a:latin typeface="Segoe UI"/>
                        </a:rPr>
                        <a:t>Uniform standard for every critical service</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500" b="1">
                          <a:solidFill>
                            <a:srgbClr val="0B3D91"/>
                          </a:solidFill>
                          <a:latin typeface="Segoe UI"/>
                        </a:rPr>
                        <a:t>Cost Posture</a:t>
                      </a:r>
                    </a:p>
                  </a:txBody>
                  <a:tcPr marT="54864" marB="54864" anchor="ctr">
                    <a:solidFill>
                      <a:srgbClr val="FFFFFF"/>
                    </a:solidFill>
                  </a:tcPr>
                </a:tc>
                <a:tc>
                  <a:txBody>
                    <a:bodyPr/>
                    <a:lstStyle/>
                    <a:p>
                      <a:pPr algn="l"/>
                      <a:r>
                        <a:rPr sz="1500" b="0" dirty="0">
                          <a:solidFill>
                            <a:srgbClr val="1F1F1F"/>
                          </a:solidFill>
                          <a:latin typeface="Segoe UI"/>
                        </a:rPr>
                        <a:t>Spend visible in parts; not yet governed or attributable end-to-end</a:t>
                      </a:r>
                    </a:p>
                  </a:txBody>
                  <a:tcPr marT="54864" marB="54864" anchor="ctr">
                    <a:solidFill>
                      <a:srgbClr val="FFFFFF"/>
                    </a:solidFill>
                  </a:tcPr>
                </a:tc>
                <a:tc>
                  <a:txBody>
                    <a:bodyPr/>
                    <a:lstStyle/>
                    <a:p>
                      <a:pPr algn="l"/>
                      <a:r>
                        <a:rPr sz="1500" b="0" dirty="0">
                          <a:solidFill>
                            <a:srgbClr val="1F1F1F"/>
                          </a:solidFill>
                          <a:latin typeface="Segoe UI"/>
                        </a:rPr>
                        <a:t>Governed, transparent, attributable to lines of business</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3</a:t>
            </a:fld>
            <a:endParaRPr sz="1000" b="0">
              <a:solidFill>
                <a:srgbClr val="555555"/>
              </a:solidFill>
              <a:latin typeface="Segoe U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Expected Business Impact</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4033476"/>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Reliability</a:t>
            </a:r>
            <a:r>
              <a:rPr sz="1800" b="0" dirty="0">
                <a:solidFill>
                  <a:srgbClr val="1F1F1F"/>
                </a:solidFill>
                <a:latin typeface="Segoe UI"/>
              </a:rPr>
              <a:t> — formal service-level commitments for customer-facing systems, backed by error budgets that govern the trade-off between speed and stability.</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Speed of Recovery</a:t>
            </a:r>
            <a:r>
              <a:rPr sz="1800" b="0" dirty="0">
                <a:solidFill>
                  <a:srgbClr val="1F1F1F"/>
                </a:solidFill>
                <a:latin typeface="Segoe UI"/>
              </a:rPr>
              <a:t> — incidents detected, diagnosed, and resolved materially faster than today, with fewer escalations to senior engineers.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Customer Experience</a:t>
            </a:r>
            <a:r>
              <a:rPr sz="1800" b="0" dirty="0">
                <a:solidFill>
                  <a:srgbClr val="1F1F1F"/>
                </a:solidFill>
                <a:latin typeface="Segoe UI"/>
              </a:rPr>
              <a:t> — issues caught and remediated before they reach the customer; broker and policyholder confidence preserved.</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Operational Resilience</a:t>
            </a:r>
            <a:r>
              <a:rPr sz="1800" b="0" dirty="0">
                <a:solidFill>
                  <a:srgbClr val="1F1F1F"/>
                </a:solidFill>
                <a:latin typeface="Segoe UI"/>
              </a:rPr>
              <a:t> — clear, tested recovery commitments for every tier of service, defensible to regulators and rating agencies.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Growth Enablement</a:t>
            </a:r>
            <a:r>
              <a:rPr sz="1800" b="0" dirty="0">
                <a:solidFill>
                  <a:srgbClr val="1F1F1F"/>
                </a:solidFill>
                <a:latin typeface="Segoe UI"/>
              </a:rPr>
              <a:t> — engineering capacity reclaimed from incident response is redirected to product delivery and innovation.</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4</a:t>
            </a:fld>
            <a:endParaRPr sz="1000" b="0">
              <a:solidFill>
                <a:srgbClr val="555555"/>
              </a:solidFill>
              <a:latin typeface="Segoe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Resource Requirements — Investment View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843040"/>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a:t>
            </a:r>
            <a:r>
              <a:rPr sz="1700" b="0" dirty="0">
                <a:solidFill>
                  <a:srgbClr val="1F1F1F"/>
                </a:solidFill>
                <a:latin typeface="Segoe UI"/>
              </a:rPr>
              <a:t> — we already have engineers building application logging and a separate team beginning infrastructure observability; the strategy brings these efforts together into one holistic, cross-domain practice rather than adding net-new headcount.</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Tooling Posture</a:t>
            </a:r>
            <a:r>
              <a:rPr sz="1700" b="0" dirty="0">
                <a:solidFill>
                  <a:srgbClr val="1F1F1F"/>
                </a:solidFill>
                <a:latin typeface="Segoe UI"/>
              </a:rPr>
              <a:t> — open-source core technologies, eliminating per-seat and per-host vendor licensing for the foundation layer.</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Funding Model</a:t>
            </a:r>
            <a:r>
              <a:rPr sz="1700" b="0" dirty="0">
                <a:solidFill>
                  <a:srgbClr val="1F1F1F"/>
                </a:solidFill>
                <a:latin typeface="Segoe UI"/>
              </a:rPr>
              <a:t> — Phase 1 absorbed within the existing platform budget envelope; cost savings from tool consolidation self-fund subsequent phases.</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Cost Discipline</a:t>
            </a:r>
            <a:r>
              <a:rPr sz="1700" b="0" dirty="0">
                <a:solidFill>
                  <a:srgbClr val="1F1F1F"/>
                </a:solidFill>
                <a:latin typeface="Segoe UI"/>
              </a:rPr>
              <a:t> — no FinOps capability exists today; we must define and standardise one as a priority, establishing budget envelopes per service tier and automated variance alerts to control observability and cloud spend.</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 Development</a:t>
            </a:r>
            <a:r>
              <a:rPr sz="1700" b="0" dirty="0">
                <a:solidFill>
                  <a:srgbClr val="1F1F1F"/>
                </a:solidFill>
                <a:latin typeface="Segoe UI"/>
              </a:rPr>
              <a:t> — engineers across the organisation up-skilled through a Community of Practice and champions network, accelerating the unified observability practice without a parallel team.</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5</a:t>
            </a:fld>
            <a:endParaRPr sz="1000" b="0">
              <a:solidFill>
                <a:srgbClr val="555555"/>
              </a:solidFill>
              <a:latin typeface="Segoe U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Twelve-Month Roadmap — Three Phases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911075403"/>
              </p:ext>
            </p:extLst>
          </p:nvPr>
        </p:nvGraphicFramePr>
        <p:xfrm>
          <a:off x="457200" y="1737360"/>
          <a:ext cx="1124712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822960">
                <a:tc>
                  <a:txBody>
                    <a:bodyPr/>
                    <a:lstStyle/>
                    <a:p>
                      <a:pPr algn="ctr"/>
                      <a:r>
                        <a:rPr sz="1800" b="1" dirty="0">
                          <a:solidFill>
                            <a:srgbClr val="FFFFFF"/>
                          </a:solidFill>
                          <a:latin typeface="Segoe UI"/>
                        </a:rPr>
                        <a:t>Phase</a:t>
                      </a:r>
                    </a:p>
                  </a:txBody>
                  <a:tcPr marT="54864" marB="54864" anchor="ctr">
                    <a:solidFill>
                      <a:srgbClr val="0B3D91"/>
                    </a:solidFill>
                  </a:tcPr>
                </a:tc>
                <a:tc>
                  <a:txBody>
                    <a:bodyPr/>
                    <a:lstStyle/>
                    <a:p>
                      <a:pPr algn="ctr"/>
                      <a:r>
                        <a:rPr sz="1800" b="1" dirty="0">
                          <a:solidFill>
                            <a:srgbClr val="FFFFFF"/>
                          </a:solidFill>
                          <a:latin typeface="Segoe UI"/>
                        </a:rPr>
                        <a:t>Theme</a:t>
                      </a:r>
                    </a:p>
                  </a:txBody>
                  <a:tcPr marT="54864" marB="54864" anchor="ctr">
                    <a:solidFill>
                      <a:srgbClr val="0B3D91"/>
                    </a:solidFill>
                  </a:tcPr>
                </a:tc>
                <a:tc>
                  <a:txBody>
                    <a:bodyPr/>
                    <a:lstStyle/>
                    <a:p>
                      <a:pPr algn="ctr"/>
                      <a:r>
                        <a:rPr sz="1800" b="1" dirty="0">
                          <a:solidFill>
                            <a:srgbClr val="FFFFFF"/>
                          </a:solidFill>
                          <a:latin typeface="Segoe UI"/>
                        </a:rPr>
                        <a:t>Outcome</a:t>
                      </a:r>
                    </a:p>
                  </a:txBody>
                  <a:tcPr marT="54864" marB="54864" anchor="ctr">
                    <a:solidFill>
                      <a:srgbClr val="0B3D91"/>
                    </a:solidFill>
                  </a:tcPr>
                </a:tc>
                <a:extLst>
                  <a:ext uri="{0D108BD9-81ED-4DB2-BD59-A6C34878D82A}">
                    <a16:rowId xmlns:a16="http://schemas.microsoft.com/office/drawing/2014/main" val="10000"/>
                  </a:ext>
                </a:extLst>
              </a:tr>
              <a:tr h="822960">
                <a:tc>
                  <a:txBody>
                    <a:bodyPr/>
                    <a:lstStyle/>
                    <a:p>
                      <a:pPr algn="l"/>
                      <a:r>
                        <a:rPr sz="1600" b="1" dirty="0">
                          <a:solidFill>
                            <a:srgbClr val="0B3D91"/>
                          </a:solidFill>
                          <a:latin typeface="Segoe UI"/>
                        </a:rPr>
                        <a:t>Phase 1 — Foundation</a:t>
                      </a:r>
                    </a:p>
                  </a:txBody>
                  <a:tcPr marT="54864" marB="54864" anchor="ctr">
                    <a:solidFill>
                      <a:srgbClr val="FFFFFF"/>
                    </a:solidFill>
                  </a:tcPr>
                </a:tc>
                <a:tc>
                  <a:txBody>
                    <a:bodyPr/>
                    <a:lstStyle/>
                    <a:p>
                      <a:pPr algn="l"/>
                      <a:r>
                        <a:rPr sz="1600" b="0" dirty="0">
                          <a:solidFill>
                            <a:srgbClr val="1F1F1F"/>
                          </a:solidFill>
                          <a:latin typeface="Segoe UI"/>
                        </a:rPr>
                        <a:t>“See when something breaks”</a:t>
                      </a:r>
                    </a:p>
                  </a:txBody>
                  <a:tcPr marT="54864" marB="54864" anchor="ctr">
                    <a:solidFill>
                      <a:srgbClr val="FFFFFF"/>
                    </a:solidFill>
                  </a:tcPr>
                </a:tc>
                <a:tc>
                  <a:txBody>
                    <a:bodyPr/>
                    <a:lstStyle/>
                    <a:p>
                      <a:pPr algn="l"/>
                      <a:r>
                        <a:rPr sz="1600" b="0" dirty="0">
                          <a:solidFill>
                            <a:srgbClr val="1F1F1F"/>
                          </a:solidFill>
                          <a:latin typeface="Segoe UI"/>
                        </a:rPr>
                        <a:t>Critical services instrumented to a common standard; baseline measures established</a:t>
                      </a:r>
                    </a:p>
                  </a:txBody>
                  <a:tcPr marT="54864" marB="54864" anchor="ctr">
                    <a:solidFill>
                      <a:srgbClr val="FFFFFF"/>
                    </a:solidFill>
                  </a:tcPr>
                </a:tc>
                <a:extLst>
                  <a:ext uri="{0D108BD9-81ED-4DB2-BD59-A6C34878D82A}">
                    <a16:rowId xmlns:a16="http://schemas.microsoft.com/office/drawing/2014/main" val="10001"/>
                  </a:ext>
                </a:extLst>
              </a:tr>
              <a:tr h="822960">
                <a:tc>
                  <a:txBody>
                    <a:bodyPr/>
                    <a:lstStyle/>
                    <a:p>
                      <a:pPr algn="l"/>
                      <a:r>
                        <a:rPr sz="1600" b="1">
                          <a:solidFill>
                            <a:srgbClr val="0B3D91"/>
                          </a:solidFill>
                          <a:latin typeface="Segoe UI"/>
                        </a:rPr>
                        <a:t>Phase 2 — Correlation</a:t>
                      </a:r>
                    </a:p>
                  </a:txBody>
                  <a:tcPr marT="54864" marB="54864" anchor="ctr">
                    <a:solidFill>
                      <a:srgbClr val="EEF1F7"/>
                    </a:solidFill>
                  </a:tcPr>
                </a:tc>
                <a:tc>
                  <a:txBody>
                    <a:bodyPr/>
                    <a:lstStyle/>
                    <a:p>
                      <a:pPr algn="l"/>
                      <a:r>
                        <a:rPr sz="1600" b="0" dirty="0">
                          <a:solidFill>
                            <a:srgbClr val="1F1F1F"/>
                          </a:solidFill>
                          <a:latin typeface="Segoe UI"/>
                        </a:rPr>
                        <a:t>“Understand why it broke”</a:t>
                      </a:r>
                    </a:p>
                  </a:txBody>
                  <a:tcPr marT="54864" marB="54864" anchor="ctr">
                    <a:solidFill>
                      <a:srgbClr val="EEF1F7"/>
                    </a:solidFill>
                  </a:tcPr>
                </a:tc>
                <a:tc>
                  <a:txBody>
                    <a:bodyPr/>
                    <a:lstStyle/>
                    <a:p>
                      <a:pPr algn="l"/>
                      <a:r>
                        <a:rPr sz="1600" b="0" dirty="0">
                          <a:solidFill>
                            <a:srgbClr val="1F1F1F"/>
                          </a:solidFill>
                          <a:latin typeface="Segoe UI"/>
                        </a:rPr>
                        <a:t>Logs, metrics, and traces correlated; alerts that are actionable rather than noisy</a:t>
                      </a:r>
                    </a:p>
                  </a:txBody>
                  <a:tcPr marT="54864" marB="54864" anchor="ctr">
                    <a:solidFill>
                      <a:srgbClr val="EEF1F7"/>
                    </a:solidFill>
                  </a:tcPr>
                </a:tc>
                <a:extLst>
                  <a:ext uri="{0D108BD9-81ED-4DB2-BD59-A6C34878D82A}">
                    <a16:rowId xmlns:a16="http://schemas.microsoft.com/office/drawing/2014/main" val="10002"/>
                  </a:ext>
                </a:extLst>
              </a:tr>
              <a:tr h="822960">
                <a:tc>
                  <a:txBody>
                    <a:bodyPr/>
                    <a:lstStyle/>
                    <a:p>
                      <a:pPr algn="l"/>
                      <a:r>
                        <a:rPr sz="1600" b="1">
                          <a:solidFill>
                            <a:srgbClr val="0B3D91"/>
                          </a:solidFill>
                          <a:latin typeface="Segoe UI"/>
                        </a:rPr>
                        <a:t>Phase 3 — Intelligence</a:t>
                      </a:r>
                    </a:p>
                  </a:txBody>
                  <a:tcPr marT="54864" marB="54864" anchor="ctr">
                    <a:solidFill>
                      <a:srgbClr val="FFFFFF"/>
                    </a:solidFill>
                  </a:tcPr>
                </a:tc>
                <a:tc>
                  <a:txBody>
                    <a:bodyPr/>
                    <a:lstStyle/>
                    <a:p>
                      <a:pPr algn="l"/>
                      <a:r>
                        <a:rPr sz="1600" b="0">
                          <a:solidFill>
                            <a:srgbClr val="1F1F1F"/>
                          </a:solidFill>
                          <a:latin typeface="Segoe UI"/>
                        </a:rPr>
                        <a:t>“Fix it before users notice”</a:t>
                      </a:r>
                    </a:p>
                  </a:txBody>
                  <a:tcPr marT="54864" marB="54864" anchor="ctr">
                    <a:solidFill>
                      <a:srgbClr val="FFFFFF"/>
                    </a:solidFill>
                  </a:tcPr>
                </a:tc>
                <a:tc>
                  <a:txBody>
                    <a:bodyPr/>
                    <a:lstStyle/>
                    <a:p>
                      <a:pPr algn="l"/>
                      <a:r>
                        <a:rPr sz="1600" b="0" dirty="0">
                          <a:solidFill>
                            <a:srgbClr val="1F1F1F"/>
                          </a:solidFill>
                          <a:latin typeface="Segoe UI"/>
                        </a:rPr>
                        <a:t>AI-assisted anomaly detection, automated root-cause analysis, predictive alerting</a:t>
                      </a:r>
                    </a:p>
                  </a:txBody>
                  <a:tcPr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457200" y="5085267"/>
            <a:ext cx="11247120" cy="1178373"/>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62280" y="5085266"/>
            <a:ext cx="79248" cy="1178373"/>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5325" y="5188291"/>
            <a:ext cx="10871835" cy="929485"/>
          </a:xfrm>
          <a:prstGeom prst="rect">
            <a:avLst/>
          </a:prstGeom>
          <a:noFill/>
        </p:spPr>
        <p:txBody>
          <a:bodyPr wrap="square" lIns="45720" tIns="18288" rIns="45720" bIns="18288" anchor="ctr">
            <a:spAutoFit/>
          </a:bodyPr>
          <a:lstStyle/>
          <a:p>
            <a:pPr algn="l"/>
            <a:r>
              <a:rPr sz="1600" b="0" dirty="0">
                <a:solidFill>
                  <a:srgbClr val="1F1F1F"/>
                </a:solidFill>
                <a:latin typeface="Segoe UI"/>
              </a:rPr>
              <a:t>Builds on Ian Core observability work already in flight ? not a restart.</a:t>
            </a:r>
          </a:p>
          <a:p>
            <a:pPr algn="l">
              <a:spcBef>
                <a:spcPts val="600"/>
              </a:spcBef>
              <a:spcAft>
                <a:spcPts val="600"/>
              </a:spcAft>
            </a:pPr>
            <a:r>
              <a:rPr sz="1600" b="0" dirty="0">
                <a:solidFill>
                  <a:srgbClr val="1F1F1F"/>
                </a:solidFill>
                <a:latin typeface="Segoe UI"/>
              </a:rPr>
              <a:t>One unified strategy joining infrastructure, logging, and monitoring with the application layer.</a:t>
            </a:r>
          </a:p>
          <a:p>
            <a:pPr algn="l"/>
            <a:r>
              <a:rPr sz="1600" b="0" dirty="0">
                <a:solidFill>
                  <a:srgbClr val="1F1F1F"/>
                </a:solidFill>
                <a:latin typeface="Segoe UI"/>
              </a:rPr>
              <a:t>Delivered by an SRE function established within the existing Quality team.</a:t>
            </a:r>
          </a:p>
        </p:txBody>
      </p:sp>
      <p:sp>
        <p:nvSpPr>
          <p:cNvPr id="10" name="Rectangle 9"/>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2" name="TextBox 11"/>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6</a:t>
            </a:fld>
            <a:endParaRPr sz="1000" b="0">
              <a:solidFill>
                <a:srgbClr val="555555"/>
              </a:solidFill>
              <a:latin typeface="Segoe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Governance &amp; Accountability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4289957"/>
          </a:xfrm>
          <a:prstGeom prst="rect">
            <a:avLst/>
          </a:prstGeom>
          <a:noFill/>
        </p:spPr>
        <p:txBody>
          <a:bodyPr wrap="square" lIns="45720" rIns="45720">
            <a:spAutoFit/>
          </a:bodyPr>
          <a:lstStyle/>
          <a:p>
            <a:pPr marL="285750" indent="-285750">
              <a:lnSpc>
                <a:spcPct val="125000"/>
              </a:lnSpc>
              <a:spcAft>
                <a:spcPts val="1000"/>
              </a:spcAft>
              <a:buFont typeface="Arial" panose="020B0604020202020204" pitchFamily="34" charset="0"/>
              <a:buChar char="•"/>
            </a:pPr>
            <a:r>
              <a:rPr sz="1800" b="1" dirty="0">
                <a:solidFill>
                  <a:srgbClr val="1F1F1F"/>
                </a:solidFill>
                <a:latin typeface="Segoe UI"/>
              </a:rPr>
              <a:t>Centre of Excellence (CoE) owns the standard </a:t>
            </a:r>
            <a:r>
              <a:rPr lang="en-IN" dirty="0">
                <a:solidFill>
                  <a:srgbClr val="1F1F1F"/>
                </a:solidFill>
                <a:latin typeface="Segoe UI"/>
              </a:rPr>
              <a:t>—</a:t>
            </a:r>
            <a:r>
              <a:rPr sz="1800" b="1" dirty="0">
                <a:solidFill>
                  <a:srgbClr val="1F1F1F"/>
                </a:solidFill>
                <a:latin typeface="Segoe UI"/>
              </a:rPr>
              <a:t> </a:t>
            </a:r>
            <a:r>
              <a:rPr sz="1800" dirty="0">
                <a:solidFill>
                  <a:srgbClr val="1F1F1F"/>
                </a:solidFill>
                <a:latin typeface="Segoe UI"/>
              </a:rPr>
              <a:t>defines observability </a:t>
            </a:r>
            <a:r>
              <a:rPr lang="en-IN" sz="1800" dirty="0">
                <a:solidFill>
                  <a:srgbClr val="1F1F1F"/>
                </a:solidFill>
                <a:latin typeface="Segoe UI"/>
              </a:rPr>
              <a:t>standards &amp; </a:t>
            </a:r>
            <a:r>
              <a:rPr sz="1800" dirty="0">
                <a:solidFill>
                  <a:srgbClr val="1F1F1F"/>
                </a:solidFill>
                <a:latin typeface="Segoe UI"/>
              </a:rPr>
              <a:t>principles, golden signals, telemetry contracts, and platform choices.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Product groups own the implementation</a:t>
            </a:r>
            <a:r>
              <a:rPr sz="1800" dirty="0">
                <a:solidFill>
                  <a:srgbClr val="1F1F1F"/>
                </a:solidFill>
                <a:latin typeface="Segoe UI"/>
              </a:rPr>
              <a:t> — instrument their services, meet availability and latency targets, and stay within the standard.</a:t>
            </a:r>
          </a:p>
          <a:p>
            <a:pPr marL="285750" indent="-285750">
              <a:lnSpc>
                <a:spcPct val="125000"/>
              </a:lnSpc>
              <a:spcAft>
                <a:spcPts val="1000"/>
              </a:spcAft>
              <a:buFont typeface="Arial" panose="020B0604020202020204" pitchFamily="34" charset="0"/>
              <a:buChar char="•"/>
            </a:pPr>
            <a:r>
              <a:rPr sz="1800" b="1" dirty="0">
                <a:solidFill>
                  <a:srgbClr val="1F1F1F"/>
                </a:solidFill>
                <a:latin typeface="Segoe UI"/>
              </a:rPr>
              <a:t>CoE</a:t>
            </a:r>
            <a:endParaRPr lang="en-IN" sz="1800" b="1" dirty="0">
              <a:solidFill>
                <a:srgbClr val="1F1F1F"/>
              </a:solidFill>
              <a:latin typeface="Segoe UI"/>
            </a:endParaRPr>
          </a:p>
          <a:p>
            <a:pPr marL="742950" lvl="1" indent="-285750">
              <a:lnSpc>
                <a:spcPct val="125000"/>
              </a:lnSpc>
              <a:spcAft>
                <a:spcPts val="1000"/>
              </a:spcAft>
              <a:buFont typeface="Arial" panose="020B0604020202020204" pitchFamily="34" charset="0"/>
              <a:buChar char="•"/>
            </a:pPr>
            <a:r>
              <a:rPr lang="en-IN" dirty="0">
                <a:solidFill>
                  <a:srgbClr val="1F1F1F"/>
                </a:solidFill>
                <a:latin typeface="Segoe UI"/>
              </a:rPr>
              <a:t>Measures</a:t>
            </a:r>
            <a:r>
              <a:rPr dirty="0">
                <a:solidFill>
                  <a:srgbClr val="1F1F1F"/>
                </a:solidFill>
                <a:latin typeface="Segoe UI"/>
              </a:rPr>
              <a:t> conformance and publishes scorecards</a:t>
            </a:r>
            <a:endParaRPr lang="en-IN" dirty="0">
              <a:solidFill>
                <a:srgbClr val="1F1F1F"/>
              </a:solidFill>
              <a:latin typeface="Segoe UI"/>
            </a:endParaRPr>
          </a:p>
          <a:p>
            <a:pPr marL="742950" lvl="1" indent="-285750">
              <a:lnSpc>
                <a:spcPct val="125000"/>
              </a:lnSpc>
              <a:spcAft>
                <a:spcPts val="1000"/>
              </a:spcAft>
              <a:buFont typeface="Arial" panose="020B0604020202020204" pitchFamily="34" charset="0"/>
              <a:buChar char="•"/>
            </a:pPr>
            <a:r>
              <a:rPr lang="en-US" dirty="0">
                <a:solidFill>
                  <a:srgbClr val="1F1F1F"/>
                </a:solidFill>
                <a:latin typeface="Segoe UI"/>
              </a:rPr>
              <a:t>Deviations from the standard require explicit, time-boxed approval from the CoE (no quiet exceptions)</a:t>
            </a:r>
            <a:endParaRPr lang="en-IN" dirty="0">
              <a:solidFill>
                <a:srgbClr val="1F1F1F"/>
              </a:solidFill>
              <a:latin typeface="Segoe UI"/>
            </a:endParaRPr>
          </a:p>
          <a:p>
            <a:pPr marL="285750" indent="-285750">
              <a:lnSpc>
                <a:spcPct val="125000"/>
              </a:lnSpc>
              <a:spcAft>
                <a:spcPts val="1000"/>
              </a:spcAft>
              <a:buFont typeface="Arial" panose="020B0604020202020204" pitchFamily="34" charset="0"/>
              <a:buChar char="•"/>
            </a:pPr>
            <a:r>
              <a:rPr lang="en-IN" sz="1800" b="1" dirty="0">
                <a:solidFill>
                  <a:srgbClr val="1F1F1F"/>
                </a:solidFill>
                <a:latin typeface="Segoe UI"/>
              </a:rPr>
              <a:t>Product Groups</a:t>
            </a:r>
            <a:r>
              <a:rPr lang="en-IN" dirty="0">
                <a:solidFill>
                  <a:srgbClr val="1F1F1F"/>
                </a:solidFill>
                <a:latin typeface="Segoe UI"/>
              </a:rPr>
              <a:t> — </a:t>
            </a:r>
            <a:r>
              <a:rPr sz="1800" dirty="0">
                <a:solidFill>
                  <a:srgbClr val="1F1F1F"/>
                </a:solidFill>
                <a:latin typeface="Segoe UI"/>
              </a:rPr>
              <a:t>remediate gaps as part of normal engineering work.</a:t>
            </a:r>
          </a:p>
          <a:p>
            <a:pPr marL="285750" indent="-285750">
              <a:lnSpc>
                <a:spcPct val="125000"/>
              </a:lnSpc>
              <a:spcAft>
                <a:spcPts val="1000"/>
              </a:spcAft>
              <a:buFont typeface="Arial" panose="020B0604020202020204" pitchFamily="34" charset="0"/>
              <a:buChar char="•"/>
            </a:pPr>
            <a:r>
              <a:rPr lang="en-IN" sz="1800" b="1" dirty="0">
                <a:solidFill>
                  <a:srgbClr val="1F1F1F"/>
                </a:solidFill>
                <a:latin typeface="Segoe UI"/>
              </a:rPr>
              <a:t>Product Engineering</a:t>
            </a:r>
            <a:r>
              <a:rPr lang="en-IN" dirty="0">
                <a:solidFill>
                  <a:srgbClr val="1F1F1F"/>
                </a:solidFill>
                <a:latin typeface="Segoe UI"/>
              </a:rPr>
              <a:t> — </a:t>
            </a:r>
            <a:r>
              <a:rPr sz="1800" dirty="0">
                <a:solidFill>
                  <a:srgbClr val="1F1F1F"/>
                </a:solidFill>
                <a:latin typeface="Segoe UI"/>
              </a:rPr>
              <a:t>Operational outcomes (availability, performance, cost, incident quality) sit with product engineering leadership</a:t>
            </a:r>
            <a:r>
              <a:rPr lang="en-IN" dirty="0">
                <a:solidFill>
                  <a:srgbClr val="1F1F1F"/>
                </a:solidFill>
                <a:latin typeface="Segoe UI"/>
              </a:rPr>
              <a:t>.</a:t>
            </a:r>
            <a:endParaRPr sz="1800" dirty="0">
              <a:solidFill>
                <a:srgbClr val="1F1F1F"/>
              </a:solidFill>
              <a:latin typeface="Segoe UI"/>
            </a:endParaRP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7</a:t>
            </a:fld>
            <a:endParaRPr sz="1000" b="0">
              <a:solidFill>
                <a:srgbClr val="555555"/>
              </a:solidFill>
              <a:latin typeface="Segoe U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017520"/>
            <a:ext cx="1097280"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154680"/>
            <a:ext cx="11094720" cy="1280160"/>
          </a:xfrm>
          <a:prstGeom prst="rect">
            <a:avLst/>
          </a:prstGeom>
          <a:noFill/>
        </p:spPr>
        <p:txBody>
          <a:bodyPr wrap="square">
            <a:spAutoFit/>
          </a:bodyPr>
          <a:lstStyle/>
          <a:p>
            <a:r>
              <a:rPr sz="5400" b="1">
                <a:solidFill>
                  <a:srgbClr val="FFFFFF"/>
                </a:solidFill>
                <a:latin typeface="Segoe UI"/>
              </a:rPr>
              <a:t>Thank You</a:t>
            </a:r>
          </a:p>
        </p:txBody>
      </p:sp>
      <p:sp>
        <p:nvSpPr>
          <p:cNvPr id="5" name="TextBox 4"/>
          <p:cNvSpPr txBox="1"/>
          <p:nvPr/>
        </p:nvSpPr>
        <p:spPr>
          <a:xfrm>
            <a:off x="548640" y="4297680"/>
            <a:ext cx="11094720" cy="731520"/>
          </a:xfrm>
          <a:prstGeom prst="rect">
            <a:avLst/>
          </a:prstGeom>
          <a:noFill/>
        </p:spPr>
        <p:txBody>
          <a:bodyPr wrap="square">
            <a:spAutoFit/>
          </a:bodyPr>
          <a:lstStyle/>
          <a:p>
            <a:r>
              <a:rPr sz="2000">
                <a:solidFill>
                  <a:srgbClr val="FFFFFF"/>
                </a:solidFill>
                <a:latin typeface="Segoe UI"/>
              </a:rPr>
              <a:t>Questions, discussion and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017520"/>
            <a:ext cx="1097280"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154680"/>
            <a:ext cx="11094720" cy="1280160"/>
          </a:xfrm>
          <a:prstGeom prst="rect">
            <a:avLst/>
          </a:prstGeom>
          <a:noFill/>
        </p:spPr>
        <p:txBody>
          <a:bodyPr wrap="square">
            <a:spAutoFit/>
          </a:bodyPr>
          <a:lstStyle/>
          <a:p>
            <a:r>
              <a:rPr sz="5400" b="1">
                <a:solidFill>
                  <a:srgbClr val="FFFFFF"/>
                </a:solidFill>
                <a:latin typeface="Segoe UI"/>
              </a:rPr>
              <a:t>Appendix</a:t>
            </a:r>
          </a:p>
        </p:txBody>
      </p:sp>
      <p:sp>
        <p:nvSpPr>
          <p:cNvPr id="5" name="TextBox 4"/>
          <p:cNvSpPr txBox="1"/>
          <p:nvPr/>
        </p:nvSpPr>
        <p:spPr>
          <a:xfrm>
            <a:off x="548640" y="4297680"/>
            <a:ext cx="11094720" cy="731520"/>
          </a:xfrm>
          <a:prstGeom prst="rect">
            <a:avLst/>
          </a:prstGeom>
          <a:noFill/>
        </p:spPr>
        <p:txBody>
          <a:bodyPr wrap="square">
            <a:spAutoFit/>
          </a:bodyPr>
          <a:lstStyle/>
          <a:p>
            <a:r>
              <a:rPr sz="2000">
                <a:solidFill>
                  <a:srgbClr val="FFFFFF"/>
                </a:solidFill>
                <a:latin typeface="Segoe UI"/>
              </a:rPr>
              <a:t>Supporting detail for reference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2800" b="1">
                <a:solidFill>
                  <a:srgbClr val="0B1F3A"/>
                </a:solidFill>
                <a:latin typeface="Segoe UI"/>
              </a:rPr>
              <a:t>Business Value by Function</a:t>
            </a:r>
          </a:p>
          <a:p>
            <a:r>
              <a:rPr sz="1400">
                <a:solidFill>
                  <a:srgbClr val="1F2A44"/>
                </a:solidFill>
                <a:latin typeface="Segoe UI"/>
              </a:rPr>
              <a:t>Observability impact across Xceedance client service delivery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172093213"/>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701040">
                <a:tc>
                  <a:txBody>
                    <a:bodyPr/>
                    <a:lstStyle/>
                    <a:p>
                      <a:pPr algn="l"/>
                      <a:r>
                        <a:rPr sz="1300" b="1">
                          <a:solidFill>
                            <a:srgbClr val="FFFFFF"/>
                          </a:solidFill>
                          <a:latin typeface="Segoe UI"/>
                        </a:rPr>
                        <a:t>Service Line</a:t>
                      </a:r>
                    </a:p>
                  </a:txBody>
                  <a:tcPr marT="54864" marB="54864" anchor="ctr">
                    <a:solidFill>
                      <a:srgbClr val="0B1F3A"/>
                    </a:solidFill>
                  </a:tcPr>
                </a:tc>
                <a:tc>
                  <a:txBody>
                    <a:bodyPr/>
                    <a:lstStyle/>
                    <a:p>
                      <a:pPr algn="l"/>
                      <a:r>
                        <a:rPr sz="1300" b="1">
                          <a:solidFill>
                            <a:srgbClr val="FFFFFF"/>
                          </a:solidFill>
                          <a:latin typeface="Segoe UI"/>
                        </a:rPr>
                        <a:t>Observability Value to Client Delivery</a:t>
                      </a:r>
                    </a:p>
                  </a:txBody>
                  <a:tcPr marT="54864" marB="54864" anchor="ctr">
                    <a:solidFill>
                      <a:srgbClr val="0B1F3A"/>
                    </a:solidFill>
                  </a:tcPr>
                </a:tc>
                <a:extLst>
                  <a:ext uri="{0D108BD9-81ED-4DB2-BD59-A6C34878D82A}">
                    <a16:rowId xmlns:a16="http://schemas.microsoft.com/office/drawing/2014/main" val="10000"/>
                  </a:ext>
                </a:extLst>
              </a:tr>
              <a:tr h="701040">
                <a:tc>
                  <a:txBody>
                    <a:bodyPr/>
                    <a:lstStyle/>
                    <a:p>
                      <a:pPr algn="l"/>
                      <a:r>
                        <a:rPr sz="1200">
                          <a:solidFill>
                            <a:srgbClr val="1F2A44"/>
                          </a:solidFill>
                          <a:latin typeface="Segoe UI"/>
                        </a:rPr>
                        <a:t>Lifecycle &amp; Operations</a:t>
                      </a:r>
                    </a:p>
                  </a:txBody>
                  <a:tcPr marT="54864" marB="54864" anchor="ctr">
                    <a:solidFill>
                      <a:srgbClr val="FFFFFF"/>
                    </a:solidFill>
                  </a:tcPr>
                </a:tc>
                <a:tc>
                  <a:txBody>
                    <a:bodyPr/>
                    <a:lstStyle/>
                    <a:p>
                      <a:pPr algn="l"/>
                      <a:r>
                        <a:rPr sz="1200">
                          <a:solidFill>
                            <a:srgbClr val="1F2A44"/>
                          </a:solidFill>
                          <a:latin typeface="Segoe UI"/>
                        </a:rPr>
                        <a:t>Real-time visibility into policy, billing, and servicing workflows; faster SLA breach detection; reduced manual triage.</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200">
                          <a:solidFill>
                            <a:srgbClr val="1F2A44"/>
                          </a:solidFill>
                          <a:latin typeface="Segoe UI"/>
                        </a:rPr>
                        <a:t>Claims TPA &amp; Solutions</a:t>
                      </a:r>
                    </a:p>
                  </a:txBody>
                  <a:tcPr marT="54864" marB="54864" anchor="ctr">
                    <a:solidFill>
                      <a:srgbClr val="F4F1E8"/>
                    </a:solidFill>
                  </a:tcPr>
                </a:tc>
                <a:tc>
                  <a:txBody>
                    <a:bodyPr/>
                    <a:lstStyle/>
                    <a:p>
                      <a:pPr algn="l"/>
                      <a:r>
                        <a:rPr sz="1200">
                          <a:solidFill>
                            <a:srgbClr val="1F2A44"/>
                          </a:solidFill>
                          <a:latin typeface="Segoe UI"/>
                        </a:rPr>
                        <a:t>End-to-end claims-journey traceability; earlier fraud and leakage signals; measurable cycle-time reduction.</a:t>
                      </a:r>
                    </a:p>
                  </a:txBody>
                  <a:tcPr marT="54864" marB="54864" anchor="ctr">
                    <a:solidFill>
                      <a:srgbClr val="F4F1E8"/>
                    </a:solidFill>
                  </a:tcPr>
                </a:tc>
                <a:extLst>
                  <a:ext uri="{0D108BD9-81ED-4DB2-BD59-A6C34878D82A}">
                    <a16:rowId xmlns:a16="http://schemas.microsoft.com/office/drawing/2014/main" val="10002"/>
                  </a:ext>
                </a:extLst>
              </a:tr>
              <a:tr h="701040">
                <a:tc>
                  <a:txBody>
                    <a:bodyPr/>
                    <a:lstStyle/>
                    <a:p>
                      <a:pPr algn="l"/>
                      <a:r>
                        <a:rPr sz="1200">
                          <a:solidFill>
                            <a:srgbClr val="1F2A44"/>
                          </a:solidFill>
                          <a:latin typeface="Segoe UI"/>
                        </a:rPr>
                        <a:t>Technology &amp; Digital</a:t>
                      </a:r>
                    </a:p>
                  </a:txBody>
                  <a:tcPr marT="54864" marB="54864" anchor="ctr">
                    <a:solidFill>
                      <a:srgbClr val="FFFFFF"/>
                    </a:solidFill>
                  </a:tcPr>
                </a:tc>
                <a:tc>
                  <a:txBody>
                    <a:bodyPr/>
                    <a:lstStyle/>
                    <a:p>
                      <a:pPr algn="l"/>
                      <a:r>
                        <a:rPr sz="1200">
                          <a:solidFill>
                            <a:srgbClr val="1F2A44"/>
                          </a:solidFill>
                          <a:latin typeface="Segoe UI"/>
                        </a:rPr>
                        <a:t>Faster MTTR on client platforms; proactive release health; shared telemetry standard across product groups.</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200">
                          <a:solidFill>
                            <a:srgbClr val="1F2A44"/>
                          </a:solidFill>
                          <a:latin typeface="Segoe UI"/>
                        </a:rPr>
                        <a:t>Data &amp; Analytics</a:t>
                      </a:r>
                    </a:p>
                  </a:txBody>
                  <a:tcPr marT="54864" marB="54864" anchor="ctr">
                    <a:solidFill>
                      <a:srgbClr val="F4F1E8"/>
                    </a:solidFill>
                  </a:tcPr>
                </a:tc>
                <a:tc>
                  <a:txBody>
                    <a:bodyPr/>
                    <a:lstStyle/>
                    <a:p>
                      <a:pPr algn="l"/>
                      <a:r>
                        <a:rPr sz="1200">
                          <a:solidFill>
                            <a:srgbClr val="1F2A44"/>
                          </a:solidFill>
                          <a:latin typeface="Segoe UI"/>
                        </a:rPr>
                        <a:t>Trusted data pipelines with lineage and freshness SLOs; auditable inputs for actuarial and BI workloads.</a:t>
                      </a:r>
                    </a:p>
                  </a:txBody>
                  <a:tcPr marT="54864" marB="54864" anchor="ctr">
                    <a:solidFill>
                      <a:srgbClr val="F4F1E8"/>
                    </a:solidFill>
                  </a:tcPr>
                </a:tc>
                <a:extLst>
                  <a:ext uri="{0D108BD9-81ED-4DB2-BD59-A6C34878D82A}">
                    <a16:rowId xmlns:a16="http://schemas.microsoft.com/office/drawing/2014/main" val="10004"/>
                  </a:ext>
                </a:extLst>
              </a:tr>
              <a:tr h="701040">
                <a:tc>
                  <a:txBody>
                    <a:bodyPr/>
                    <a:lstStyle/>
                    <a:p>
                      <a:pPr algn="l"/>
                      <a:r>
                        <a:rPr sz="1200">
                          <a:solidFill>
                            <a:srgbClr val="1F2A44"/>
                          </a:solidFill>
                          <a:latin typeface="Segoe UI"/>
                        </a:rPr>
                        <a:t>Consultancy &amp; Advisory</a:t>
                      </a:r>
                    </a:p>
                  </a:txBody>
                  <a:tcPr marT="54864" marB="54864" anchor="ctr">
                    <a:solidFill>
                      <a:srgbClr val="FFFFFF"/>
                    </a:solidFill>
                  </a:tcPr>
                </a:tc>
                <a:tc>
                  <a:txBody>
                    <a:bodyPr/>
                    <a:lstStyle/>
                    <a:p>
                      <a:pPr algn="l"/>
                      <a:r>
                        <a:rPr sz="1200">
                          <a:solidFill>
                            <a:srgbClr val="1F2A44"/>
                          </a:solidFill>
                          <a:latin typeface="Segoe UI"/>
                        </a:rPr>
                        <a:t>Evidence-backed maturity assessments; benchmarkable KPIs underpinning client transformation roadmaps.</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10</a:t>
            </a:fld>
            <a:endParaRPr sz="1000" b="0">
              <a:solidFill>
                <a:srgbClr val="555555"/>
              </a:solidFill>
              <a:latin typeface="Segoe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Compliance &amp; Risk Mitigation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816570"/>
          </a:xfrm>
          <a:prstGeom prst="rect">
            <a:avLst/>
          </a:prstGeom>
          <a:noFill/>
        </p:spPr>
        <p:txBody>
          <a:bodyPr wrap="square" lIns="45720" rIns="45720">
            <a:spAutoFit/>
          </a:bodyPr>
          <a:lstStyle/>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In-scope frameworks</a:t>
            </a:r>
            <a:r>
              <a:rPr sz="1700" b="0" dirty="0">
                <a:solidFill>
                  <a:srgbClr val="1F1F1F"/>
                </a:solidFill>
                <a:latin typeface="Segoe UI"/>
              </a:rPr>
              <a:t>  —  SOC 2 Type II  ·  ISO 27001  ·  GDPR</a:t>
            </a:r>
          </a:p>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On the watch-list</a:t>
            </a:r>
            <a:r>
              <a:rPr sz="1700" b="0" dirty="0">
                <a:solidFill>
                  <a:srgbClr val="1F1F1F"/>
                </a:solidFill>
                <a:latin typeface="Segoe UI"/>
              </a:rPr>
              <a:t>  —  PCI DSS  ·  DORA  ·  NIS2 (anticipated obligations as our European footprint grows)</a:t>
            </a:r>
          </a:p>
        </p:txBody>
      </p:sp>
      <p:sp>
        <p:nvSpPr>
          <p:cNvPr id="7" name="TextBox 6"/>
          <p:cNvSpPr txBox="1"/>
          <p:nvPr/>
        </p:nvSpPr>
        <p:spPr>
          <a:xfrm>
            <a:off x="457200" y="3246120"/>
            <a:ext cx="11247120" cy="365760"/>
          </a:xfrm>
          <a:prstGeom prst="rect">
            <a:avLst/>
          </a:prstGeom>
          <a:noFill/>
        </p:spPr>
        <p:txBody>
          <a:bodyPr wrap="square" lIns="45720" tIns="18288" rIns="45720" bIns="18288" anchor="t">
            <a:spAutoFit/>
          </a:bodyPr>
          <a:lstStyle/>
          <a:p>
            <a:pPr algn="l"/>
            <a:r>
              <a:rPr sz="1800" b="1">
                <a:solidFill>
                  <a:srgbClr val="0B3D91"/>
                </a:solidFill>
                <a:latin typeface="Segoe UI"/>
              </a:rPr>
              <a:t>Built-in controls</a:t>
            </a:r>
          </a:p>
        </p:txBody>
      </p:sp>
      <p:sp>
        <p:nvSpPr>
          <p:cNvPr id="8" name="TextBox 7"/>
          <p:cNvSpPr txBox="1"/>
          <p:nvPr/>
        </p:nvSpPr>
        <p:spPr>
          <a:xfrm>
            <a:off x="457200" y="3657600"/>
            <a:ext cx="11247120" cy="1477649"/>
          </a:xfrm>
          <a:prstGeom prst="rect">
            <a:avLst/>
          </a:prstGeom>
          <a:noFill/>
        </p:spPr>
        <p:txBody>
          <a:bodyPr wrap="square" lIns="45720" rIns="45720">
            <a:spAutoFit/>
          </a:bodyPr>
          <a:lstStyle/>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Personally identifiable information </a:t>
            </a:r>
            <a:r>
              <a:rPr sz="1600" b="1" dirty="0">
                <a:solidFill>
                  <a:srgbClr val="1F1F1F"/>
                </a:solidFill>
                <a:latin typeface="Segoe UI"/>
              </a:rPr>
              <a:t>redacted at the source</a:t>
            </a:r>
            <a:r>
              <a:rPr sz="1600" b="0" dirty="0">
                <a:solidFill>
                  <a:srgbClr val="1F1F1F"/>
                </a:solidFill>
                <a:latin typeface="Segoe UI"/>
              </a:rPr>
              <a:t>, never landing in our backends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Tiered data retention aligned to regulatory and business needs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Role-based access enforced uniformly across the platform</a:t>
            </a:r>
          </a:p>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Continuous evidence collection — </a:t>
            </a:r>
            <a:r>
              <a:rPr sz="1600" b="1" dirty="0">
                <a:solidFill>
                  <a:srgbClr val="1F1F1F"/>
                </a:solidFill>
                <a:latin typeface="Segoe UI"/>
              </a:rPr>
              <a:t>audit-ready by design</a:t>
            </a:r>
          </a:p>
        </p:txBody>
      </p:sp>
      <p:sp>
        <p:nvSpPr>
          <p:cNvPr id="9" name="Rectangle 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1" name="TextBox 10"/>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11</a:t>
            </a:fld>
            <a:endParaRPr sz="1000" b="0">
              <a:solidFill>
                <a:srgbClr val="555555"/>
              </a:solidFill>
              <a:latin typeface="Segoe U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Key Risks &amp; Mitigations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953040983"/>
              </p:ext>
            </p:extLst>
          </p:nvPr>
        </p:nvGraphicFramePr>
        <p:xfrm>
          <a:off x="457200" y="1737360"/>
          <a:ext cx="11247120" cy="438912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731520">
                <a:tc>
                  <a:txBody>
                    <a:bodyPr/>
                    <a:lstStyle/>
                    <a:p>
                      <a:pPr algn="l"/>
                      <a:r>
                        <a:rPr sz="1800" b="1" dirty="0">
                          <a:solidFill>
                            <a:srgbClr val="FFFFFF"/>
                          </a:solidFill>
                          <a:latin typeface="Segoe UI"/>
                        </a:rPr>
                        <a:t>Risk</a:t>
                      </a:r>
                    </a:p>
                  </a:txBody>
                  <a:tcPr marT="54864" marB="54864" anchor="ctr">
                    <a:solidFill>
                      <a:srgbClr val="0B3D91"/>
                    </a:solidFill>
                  </a:tcPr>
                </a:tc>
                <a:tc>
                  <a:txBody>
                    <a:bodyPr/>
                    <a:lstStyle/>
                    <a:p>
                      <a:pPr algn="l"/>
                      <a:r>
                        <a:rPr sz="1800" b="1" dirty="0">
                          <a:solidFill>
                            <a:srgbClr val="FFFFFF"/>
                          </a:solidFill>
                          <a:latin typeface="Segoe UI"/>
                        </a:rPr>
                        <a:t>Mitigation</a:t>
                      </a:r>
                    </a:p>
                  </a:txBody>
                  <a:tcPr marT="54864" marB="54864" anchor="ctr">
                    <a:solidFill>
                      <a:srgbClr val="0B3D91"/>
                    </a:solidFill>
                  </a:tcPr>
                </a:tc>
                <a:extLst>
                  <a:ext uri="{0D108BD9-81ED-4DB2-BD59-A6C34878D82A}">
                    <a16:rowId xmlns:a16="http://schemas.microsoft.com/office/drawing/2014/main" val="10000"/>
                  </a:ext>
                </a:extLst>
              </a:tr>
              <a:tr h="731520">
                <a:tc>
                  <a:txBody>
                    <a:bodyPr/>
                    <a:lstStyle/>
                    <a:p>
                      <a:pPr algn="l"/>
                      <a:r>
                        <a:rPr sz="1600" b="1">
                          <a:solidFill>
                            <a:srgbClr val="0B3D91"/>
                          </a:solidFill>
                          <a:latin typeface="Segoe UI"/>
                        </a:rPr>
                        <a:t>Tool consolidation surfaces migration debt</a:t>
                      </a:r>
                    </a:p>
                  </a:txBody>
                  <a:tcPr marT="54864" marB="54864" anchor="ctr">
                    <a:solidFill>
                      <a:srgbClr val="FFFFFF"/>
                    </a:solidFill>
                  </a:tcPr>
                </a:tc>
                <a:tc>
                  <a:txBody>
                    <a:bodyPr/>
                    <a:lstStyle/>
                    <a:p>
                      <a:pPr algn="l"/>
                      <a:r>
                        <a:rPr sz="1600" b="0">
                          <a:solidFill>
                            <a:srgbClr val="1F1F1F"/>
                          </a:solidFill>
                          <a:latin typeface="Segoe UI"/>
                        </a:rPr>
                        <a:t>Phased decommissioning with parallel running; no big-bang cut-overs</a:t>
                      </a:r>
                    </a:p>
                  </a:txBody>
                  <a:tcPr marT="54864" marB="54864" anchor="ctr">
                    <a:solidFill>
                      <a:srgbClr val="FFFFFF"/>
                    </a:solidFill>
                  </a:tcPr>
                </a:tc>
                <a:extLst>
                  <a:ext uri="{0D108BD9-81ED-4DB2-BD59-A6C34878D82A}">
                    <a16:rowId xmlns:a16="http://schemas.microsoft.com/office/drawing/2014/main" val="10001"/>
                  </a:ext>
                </a:extLst>
              </a:tr>
              <a:tr h="731520">
                <a:tc>
                  <a:txBody>
                    <a:bodyPr/>
                    <a:lstStyle/>
                    <a:p>
                      <a:pPr algn="l"/>
                      <a:r>
                        <a:rPr sz="1600" b="1" dirty="0">
                          <a:solidFill>
                            <a:srgbClr val="0B3D91"/>
                          </a:solidFill>
                          <a:latin typeface="Segoe UI"/>
                        </a:rPr>
                        <a:t>AI-driven detection produces false positives during ramp-up</a:t>
                      </a:r>
                    </a:p>
                  </a:txBody>
                  <a:tcPr marT="54864" marB="54864" anchor="ctr">
                    <a:solidFill>
                      <a:srgbClr val="EEF1F7"/>
                    </a:solidFill>
                  </a:tcPr>
                </a:tc>
                <a:tc>
                  <a:txBody>
                    <a:bodyPr/>
                    <a:lstStyle/>
                    <a:p>
                      <a:pPr algn="l"/>
                      <a:r>
                        <a:rPr sz="1600" b="0">
                          <a:solidFill>
                            <a:srgbClr val="1F1F1F"/>
                          </a:solidFill>
                          <a:latin typeface="Segoe UI"/>
                        </a:rPr>
                        <a:t>Human-in-the-loop guardrails before full automation in later phases</a:t>
                      </a:r>
                    </a:p>
                  </a:txBody>
                  <a:tcPr marT="54864" marB="54864" anchor="ctr">
                    <a:solidFill>
                      <a:srgbClr val="EEF1F7"/>
                    </a:solidFill>
                  </a:tcPr>
                </a:tc>
                <a:extLst>
                  <a:ext uri="{0D108BD9-81ED-4DB2-BD59-A6C34878D82A}">
                    <a16:rowId xmlns:a16="http://schemas.microsoft.com/office/drawing/2014/main" val="10002"/>
                  </a:ext>
                </a:extLst>
              </a:tr>
              <a:tr h="731520">
                <a:tc>
                  <a:txBody>
                    <a:bodyPr/>
                    <a:lstStyle/>
                    <a:p>
                      <a:pPr algn="l"/>
                      <a:r>
                        <a:rPr sz="1600" b="1" dirty="0">
                          <a:solidFill>
                            <a:srgbClr val="0B3D91"/>
                          </a:solidFill>
                          <a:latin typeface="Segoe UI"/>
                        </a:rPr>
                        <a:t>Telemetry cost overruns as adoption scales</a:t>
                      </a:r>
                    </a:p>
                  </a:txBody>
                  <a:tcPr marT="54864" marB="54864" anchor="ctr">
                    <a:solidFill>
                      <a:srgbClr val="FFFFFF"/>
                    </a:solidFill>
                  </a:tcPr>
                </a:tc>
                <a:tc>
                  <a:txBody>
                    <a:bodyPr/>
                    <a:lstStyle/>
                    <a:p>
                      <a:pPr algn="l"/>
                      <a:r>
                        <a:rPr sz="1600" b="0">
                          <a:solidFill>
                            <a:srgbClr val="1F1F1F"/>
                          </a:solidFill>
                          <a:latin typeface="Segoe UI"/>
                        </a:rPr>
                        <a:t>FinOps budgets per service tier with automated variance alerts</a:t>
                      </a:r>
                    </a:p>
                  </a:txBody>
                  <a:tcPr marT="54864" marB="54864" anchor="ctr">
                    <a:solidFill>
                      <a:srgbClr val="FFFFFF"/>
                    </a:solidFill>
                  </a:tcPr>
                </a:tc>
                <a:extLst>
                  <a:ext uri="{0D108BD9-81ED-4DB2-BD59-A6C34878D82A}">
                    <a16:rowId xmlns:a16="http://schemas.microsoft.com/office/drawing/2014/main" val="10003"/>
                  </a:ext>
                </a:extLst>
              </a:tr>
              <a:tr h="731520">
                <a:tc>
                  <a:txBody>
                    <a:bodyPr/>
                    <a:lstStyle/>
                    <a:p>
                      <a:pPr algn="l"/>
                      <a:r>
                        <a:rPr sz="1600" b="1" dirty="0">
                          <a:solidFill>
                            <a:srgbClr val="0B3D91"/>
                          </a:solidFill>
                          <a:latin typeface="Segoe UI"/>
                        </a:rPr>
                        <a:t>Standards drift as the platform matures</a:t>
                      </a:r>
                    </a:p>
                  </a:txBody>
                  <a:tcPr marT="54864" marB="54864" anchor="ctr">
                    <a:solidFill>
                      <a:srgbClr val="EEF1F7"/>
                    </a:solidFill>
                  </a:tcPr>
                </a:tc>
                <a:tc>
                  <a:txBody>
                    <a:bodyPr/>
                    <a:lstStyle/>
                    <a:p>
                      <a:pPr algn="l"/>
                      <a:r>
                        <a:rPr sz="1600" b="0">
                          <a:solidFill>
                            <a:srgbClr val="1F1F1F"/>
                          </a:solidFill>
                          <a:latin typeface="Segoe UI"/>
                        </a:rPr>
                        <a:t>Architecture Review Board enforcement and decision-record audit trail</a:t>
                      </a:r>
                    </a:p>
                  </a:txBody>
                  <a:tcPr marT="54864" marB="54864" anchor="ctr">
                    <a:solidFill>
                      <a:srgbClr val="EEF1F7"/>
                    </a:solidFill>
                  </a:tcPr>
                </a:tc>
                <a:extLst>
                  <a:ext uri="{0D108BD9-81ED-4DB2-BD59-A6C34878D82A}">
                    <a16:rowId xmlns:a16="http://schemas.microsoft.com/office/drawing/2014/main" val="10004"/>
                  </a:ext>
                </a:extLst>
              </a:tr>
              <a:tr h="731520">
                <a:tc>
                  <a:txBody>
                    <a:bodyPr/>
                    <a:lstStyle/>
                    <a:p>
                      <a:pPr algn="l"/>
                      <a:r>
                        <a:rPr sz="1600" b="1">
                          <a:solidFill>
                            <a:srgbClr val="0B3D91"/>
                          </a:solidFill>
                          <a:latin typeface="Segoe UI"/>
                        </a:rPr>
                        <a:t>Adoption fatigue across engineering teams</a:t>
                      </a:r>
                    </a:p>
                  </a:txBody>
                  <a:tcPr marT="54864" marB="54864" anchor="ctr">
                    <a:solidFill>
                      <a:srgbClr val="FFFFFF"/>
                    </a:solidFill>
                  </a:tcPr>
                </a:tc>
                <a:tc>
                  <a:txBody>
                    <a:bodyPr/>
                    <a:lstStyle/>
                    <a:p>
                      <a:pPr algn="l"/>
                      <a:r>
                        <a:rPr sz="1600" b="0" dirty="0">
                          <a:solidFill>
                            <a:srgbClr val="1F1F1F"/>
                          </a:solidFill>
                          <a:latin typeface="Segoe UI"/>
                        </a:rPr>
                        <a:t>Pull-based Community of Practice model; champions per service</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12</a:t>
            </a:fld>
            <a:endParaRPr sz="1000" b="0">
              <a:solidFill>
                <a:srgbClr val="555555"/>
              </a:solidFill>
              <a:latin typeface="Segoe U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Strategic Pillars — A Single Operating Standard</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4434840"/>
            <a:ext cx="11247120" cy="13716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ectangle 22"/>
          <p:cNvSpPr/>
          <p:nvPr/>
        </p:nvSpPr>
        <p:spPr>
          <a:xfrm>
            <a:off x="457200" y="4434840"/>
            <a:ext cx="109728" cy="13716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777240" y="4526280"/>
            <a:ext cx="10789920" cy="313932"/>
          </a:xfrm>
          <a:prstGeom prst="rect">
            <a:avLst/>
          </a:prstGeom>
          <a:noFill/>
        </p:spPr>
        <p:txBody>
          <a:bodyPr wrap="square" lIns="45720" tIns="18288" rIns="45720" bIns="18288" anchor="t">
            <a:spAutoFit/>
          </a:bodyPr>
          <a:lstStyle/>
          <a:p>
            <a:pPr algn="l"/>
            <a:r>
              <a:rPr b="1" dirty="0">
                <a:solidFill>
                  <a:srgbClr val="0B3D91"/>
                </a:solidFill>
                <a:latin typeface="Segoe UI"/>
              </a:rPr>
              <a:t>Foundation</a:t>
            </a:r>
          </a:p>
        </p:txBody>
      </p:sp>
      <p:sp>
        <p:nvSpPr>
          <p:cNvPr id="25" name="TextBox 24"/>
          <p:cNvSpPr txBox="1"/>
          <p:nvPr/>
        </p:nvSpPr>
        <p:spPr>
          <a:xfrm>
            <a:off x="777240" y="4892040"/>
            <a:ext cx="1078992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An open, vendor-neutral data standard — eliminates lock-in, future-proofs the investment, and lets us change tools without re-instrumenting every service.</a:t>
            </a:r>
          </a:p>
        </p:txBody>
      </p:sp>
      <p:sp>
        <p:nvSpPr>
          <p:cNvPr id="26" name="Rectangle 25"/>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8" name="TextBox 27"/>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13</a:t>
            </a:fld>
            <a:endParaRPr sz="1000" b="0">
              <a:solidFill>
                <a:srgbClr val="555555"/>
              </a:solidFill>
              <a:latin typeface="Segoe UI"/>
            </a:endParaRPr>
          </a:p>
        </p:txBody>
      </p:sp>
      <p:sp>
        <p:nvSpPr>
          <p:cNvPr id="29" name="Rectangle 28"/>
          <p:cNvSpPr/>
          <p:nvPr/>
        </p:nvSpPr>
        <p:spPr>
          <a:xfrm>
            <a:off x="457200" y="1828800"/>
            <a:ext cx="2139696" cy="2377440"/>
          </a:xfrm>
          <a:prstGeom prst="rect">
            <a:avLst/>
          </a:prstGeom>
          <a:solidFill>
            <a:srgbClr val="F2F2F2"/>
          </a:solidFill>
          <a:ln>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1828800"/>
            <a:ext cx="21396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1874520"/>
            <a:ext cx="2139696" cy="411480"/>
          </a:xfrm>
          <a:prstGeom prst="rect">
            <a:avLst/>
          </a:prstGeom>
          <a:noFill/>
        </p:spPr>
        <p:txBody>
          <a:bodyPr wrap="none" tIns="0" bIns="0">
            <a:spAutoFit/>
          </a:bodyPr>
          <a:lstStyle/>
          <a:p>
            <a:pPr algn="ctr"/>
            <a:r>
              <a:rPr sz="2000" b="1">
                <a:solidFill>
                  <a:srgbClr val="FFFFFF"/>
                </a:solidFill>
                <a:latin typeface="Segoe UI"/>
              </a:rPr>
              <a:t>Metrics</a:t>
            </a:r>
          </a:p>
        </p:txBody>
      </p:sp>
      <p:sp>
        <p:nvSpPr>
          <p:cNvPr id="32" name="TextBox 31"/>
          <p:cNvSpPr txBox="1"/>
          <p:nvPr/>
        </p:nvSpPr>
        <p:spPr>
          <a:xfrm>
            <a:off x="548640" y="2468880"/>
            <a:ext cx="1956816" cy="1645920"/>
          </a:xfrm>
          <a:prstGeom prst="rect">
            <a:avLst/>
          </a:prstGeom>
          <a:noFill/>
        </p:spPr>
        <p:txBody>
          <a:bodyPr wrap="square" lIns="45720" rIns="45720">
            <a:spAutoFit/>
          </a:bodyPr>
          <a:lstStyle/>
          <a:p>
            <a:r>
              <a:rPr sz="1300">
                <a:solidFill>
                  <a:srgbClr val="1A1A1A"/>
                </a:solidFill>
                <a:latin typeface="Segoe UI"/>
              </a:rPr>
              <a:t>What is happening across the estate in real time.</a:t>
            </a:r>
          </a:p>
        </p:txBody>
      </p:sp>
      <p:sp>
        <p:nvSpPr>
          <p:cNvPr id="33" name="Rectangle 32"/>
          <p:cNvSpPr/>
          <p:nvPr/>
        </p:nvSpPr>
        <p:spPr>
          <a:xfrm>
            <a:off x="2734056" y="1828800"/>
            <a:ext cx="2139696" cy="2377440"/>
          </a:xfrm>
          <a:prstGeom prst="rect">
            <a:avLst/>
          </a:prstGeom>
          <a:solidFill>
            <a:srgbClr val="F2F2F2"/>
          </a:solidFill>
          <a:ln>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34056" y="1828800"/>
            <a:ext cx="21396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34056" y="1874520"/>
            <a:ext cx="2139696" cy="411480"/>
          </a:xfrm>
          <a:prstGeom prst="rect">
            <a:avLst/>
          </a:prstGeom>
          <a:noFill/>
        </p:spPr>
        <p:txBody>
          <a:bodyPr wrap="none" tIns="0" bIns="0">
            <a:spAutoFit/>
          </a:bodyPr>
          <a:lstStyle/>
          <a:p>
            <a:pPr algn="ctr"/>
            <a:r>
              <a:rPr sz="2000" b="1">
                <a:solidFill>
                  <a:srgbClr val="FFFFFF"/>
                </a:solidFill>
                <a:latin typeface="Segoe UI"/>
              </a:rPr>
              <a:t>Logs</a:t>
            </a:r>
          </a:p>
        </p:txBody>
      </p:sp>
      <p:sp>
        <p:nvSpPr>
          <p:cNvPr id="36" name="TextBox 35"/>
          <p:cNvSpPr txBox="1"/>
          <p:nvPr/>
        </p:nvSpPr>
        <p:spPr>
          <a:xfrm>
            <a:off x="2825496" y="2468880"/>
            <a:ext cx="1956816" cy="1645920"/>
          </a:xfrm>
          <a:prstGeom prst="rect">
            <a:avLst/>
          </a:prstGeom>
          <a:noFill/>
        </p:spPr>
        <p:txBody>
          <a:bodyPr wrap="square" lIns="45720" rIns="45720">
            <a:spAutoFit/>
          </a:bodyPr>
          <a:lstStyle/>
          <a:p>
            <a:r>
              <a:rPr sz="1300" dirty="0">
                <a:solidFill>
                  <a:srgbClr val="1A1A1A"/>
                </a:solidFill>
                <a:latin typeface="Segoe UI"/>
              </a:rPr>
              <a:t>What was said — full forensic and audit value.</a:t>
            </a:r>
          </a:p>
        </p:txBody>
      </p:sp>
      <p:sp>
        <p:nvSpPr>
          <p:cNvPr id="37" name="Rectangle 36"/>
          <p:cNvSpPr/>
          <p:nvPr/>
        </p:nvSpPr>
        <p:spPr>
          <a:xfrm>
            <a:off x="5010912" y="1828800"/>
            <a:ext cx="2139696" cy="2377440"/>
          </a:xfrm>
          <a:prstGeom prst="rect">
            <a:avLst/>
          </a:prstGeom>
          <a:solidFill>
            <a:srgbClr val="F2F2F2"/>
          </a:solidFill>
          <a:ln>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10912" y="1828800"/>
            <a:ext cx="21396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10912" y="1874520"/>
            <a:ext cx="2139696" cy="411480"/>
          </a:xfrm>
          <a:prstGeom prst="rect">
            <a:avLst/>
          </a:prstGeom>
          <a:noFill/>
        </p:spPr>
        <p:txBody>
          <a:bodyPr wrap="none" tIns="0" bIns="0">
            <a:spAutoFit/>
          </a:bodyPr>
          <a:lstStyle/>
          <a:p>
            <a:pPr algn="ctr"/>
            <a:r>
              <a:rPr sz="2000" b="1">
                <a:solidFill>
                  <a:srgbClr val="FFFFFF"/>
                </a:solidFill>
                <a:latin typeface="Segoe UI"/>
              </a:rPr>
              <a:t>Traces</a:t>
            </a:r>
          </a:p>
        </p:txBody>
      </p:sp>
      <p:sp>
        <p:nvSpPr>
          <p:cNvPr id="40" name="TextBox 39"/>
          <p:cNvSpPr txBox="1"/>
          <p:nvPr/>
        </p:nvSpPr>
        <p:spPr>
          <a:xfrm>
            <a:off x="5102352" y="2468880"/>
            <a:ext cx="1956816" cy="1645920"/>
          </a:xfrm>
          <a:prstGeom prst="rect">
            <a:avLst/>
          </a:prstGeom>
          <a:noFill/>
        </p:spPr>
        <p:txBody>
          <a:bodyPr wrap="square" lIns="45720" rIns="45720">
            <a:spAutoFit/>
          </a:bodyPr>
          <a:lstStyle/>
          <a:p>
            <a:r>
              <a:rPr sz="1300" dirty="0">
                <a:solidFill>
                  <a:srgbClr val="1A1A1A"/>
                </a:solidFill>
                <a:latin typeface="Segoe UI"/>
              </a:rPr>
              <a:t>Where it happened, end-to-end across the customer journey.</a:t>
            </a:r>
          </a:p>
        </p:txBody>
      </p:sp>
      <p:sp>
        <p:nvSpPr>
          <p:cNvPr id="41" name="Rectangle 40"/>
          <p:cNvSpPr/>
          <p:nvPr/>
        </p:nvSpPr>
        <p:spPr>
          <a:xfrm>
            <a:off x="7287768" y="1828800"/>
            <a:ext cx="2139696" cy="2377440"/>
          </a:xfrm>
          <a:prstGeom prst="rect">
            <a:avLst/>
          </a:prstGeom>
          <a:solidFill>
            <a:srgbClr val="F2F2F2"/>
          </a:solidFill>
          <a:ln>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287768" y="1828800"/>
            <a:ext cx="21396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287768" y="1874520"/>
            <a:ext cx="2139696" cy="411480"/>
          </a:xfrm>
          <a:prstGeom prst="rect">
            <a:avLst/>
          </a:prstGeom>
          <a:noFill/>
        </p:spPr>
        <p:txBody>
          <a:bodyPr wrap="none" tIns="0" bIns="0">
            <a:spAutoFit/>
          </a:bodyPr>
          <a:lstStyle/>
          <a:p>
            <a:pPr algn="ctr"/>
            <a:r>
              <a:rPr sz="2000" b="1">
                <a:solidFill>
                  <a:srgbClr val="FFFFFF"/>
                </a:solidFill>
                <a:latin typeface="Segoe UI"/>
              </a:rPr>
              <a:t>Changes</a:t>
            </a:r>
          </a:p>
        </p:txBody>
      </p:sp>
      <p:sp>
        <p:nvSpPr>
          <p:cNvPr id="44" name="TextBox 43"/>
          <p:cNvSpPr txBox="1"/>
          <p:nvPr/>
        </p:nvSpPr>
        <p:spPr>
          <a:xfrm>
            <a:off x="7379208" y="2468880"/>
            <a:ext cx="1956816" cy="1645920"/>
          </a:xfrm>
          <a:prstGeom prst="rect">
            <a:avLst/>
          </a:prstGeom>
          <a:noFill/>
        </p:spPr>
        <p:txBody>
          <a:bodyPr wrap="square" lIns="45720" rIns="45720">
            <a:spAutoFit/>
          </a:bodyPr>
          <a:lstStyle/>
          <a:p>
            <a:r>
              <a:rPr sz="1300">
                <a:solidFill>
                  <a:srgbClr val="1A1A1A"/>
                </a:solidFill>
                <a:latin typeface="Segoe UI"/>
              </a:rPr>
              <a:t>What changed — config, deploys, and infra events correlated with behaviour.</a:t>
            </a:r>
          </a:p>
        </p:txBody>
      </p:sp>
      <p:sp>
        <p:nvSpPr>
          <p:cNvPr id="45" name="Rectangle 44"/>
          <p:cNvSpPr/>
          <p:nvPr/>
        </p:nvSpPr>
        <p:spPr>
          <a:xfrm>
            <a:off x="9564624" y="1828800"/>
            <a:ext cx="2139696" cy="2377440"/>
          </a:xfrm>
          <a:prstGeom prst="rect">
            <a:avLst/>
          </a:prstGeom>
          <a:solidFill>
            <a:srgbClr val="F2F2F2"/>
          </a:solidFill>
          <a:ln>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564624" y="1828800"/>
            <a:ext cx="21396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564624" y="1874520"/>
            <a:ext cx="2139696" cy="411480"/>
          </a:xfrm>
          <a:prstGeom prst="rect">
            <a:avLst/>
          </a:prstGeom>
          <a:noFill/>
        </p:spPr>
        <p:txBody>
          <a:bodyPr wrap="none" tIns="0" bIns="0">
            <a:spAutoFit/>
          </a:bodyPr>
          <a:lstStyle/>
          <a:p>
            <a:pPr algn="ctr"/>
            <a:r>
              <a:rPr sz="2000" b="1">
                <a:solidFill>
                  <a:srgbClr val="FFFFFF"/>
                </a:solidFill>
                <a:latin typeface="Segoe UI"/>
              </a:rPr>
              <a:t>Profiles</a:t>
            </a:r>
          </a:p>
        </p:txBody>
      </p:sp>
      <p:sp>
        <p:nvSpPr>
          <p:cNvPr id="48" name="TextBox 47"/>
          <p:cNvSpPr txBox="1"/>
          <p:nvPr/>
        </p:nvSpPr>
        <p:spPr>
          <a:xfrm>
            <a:off x="9656064" y="2468880"/>
            <a:ext cx="1956816" cy="1645920"/>
          </a:xfrm>
          <a:prstGeom prst="rect">
            <a:avLst/>
          </a:prstGeom>
          <a:noFill/>
        </p:spPr>
        <p:txBody>
          <a:bodyPr wrap="square" lIns="45720" rIns="45720">
            <a:spAutoFit/>
          </a:bodyPr>
          <a:lstStyle/>
          <a:p>
            <a:r>
              <a:rPr sz="1300">
                <a:solidFill>
                  <a:srgbClr val="1A1A1A"/>
                </a:solidFill>
                <a:latin typeface="Segoe UI"/>
              </a:rPr>
              <a:t>Why it is slow or costly — code-level CPU and memory hot paths.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0ea2e9a-ed1c-457b-8cb8-a3ba3a87d0ba}" enabled="1" method="Privilege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TotalTime>214</TotalTime>
  <Words>2272</Words>
  <Application>Microsoft Office PowerPoint</Application>
  <PresentationFormat>Widescreen</PresentationFormat>
  <Paragraphs>161</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Anurag Thakur</cp:lastModifiedBy>
  <cp:revision>13</cp:revision>
  <dcterms:created xsi:type="dcterms:W3CDTF">2013-01-27T09:14:16Z</dcterms:created>
  <dcterms:modified xsi:type="dcterms:W3CDTF">2026-05-14T06:39:51Z</dcterms:modified>
  <cp:category/>
</cp:coreProperties>
</file>