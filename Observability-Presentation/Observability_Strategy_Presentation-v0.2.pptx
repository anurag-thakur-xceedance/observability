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60" r:id="rId5"/>
    <p:sldId id="262" r:id="rId6"/>
    <p:sldId id="263" r:id="rId7"/>
    <p:sldId id="264" r:id="rId8"/>
    <p:sldId id="265" r:id="rId9"/>
    <p:sldId id="266" r:id="rId10"/>
    <p:sldId id="267" r:id="rId11"/>
    <p:sldId id="259" r:id="rId12"/>
    <p:sldId id="261"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mon Armstrong" initials="SA" lastIdx="4" clrIdx="0">
    <p:extLst>
      <p:ext uri="{19B8F6BF-5375-455C-9EA6-DF929625EA0E}">
        <p15:presenceInfo xmlns:p15="http://schemas.microsoft.com/office/powerpoint/2012/main" userId="S::simon.armstrong@xceedance.com::25bf7e7e-18dd-450f-aea5-90996c2a05c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11"/>
    <p:restoredTop sz="83684" autoAdjust="0"/>
  </p:normalViewPr>
  <p:slideViewPr>
    <p:cSldViewPr snapToGrid="0" snapToObjects="1">
      <p:cViewPr varScale="1">
        <p:scale>
          <a:sx n="80" d="100"/>
          <a:sy n="80" d="100"/>
        </p:scale>
        <p:origin x="667"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9126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a strategic conversation, not a technical one. Frame the presentation as the modernization of how we run the business operationally — every customer-facing service, from Underwriting to Claims to FNOL</a:t>
            </a:r>
            <a:r>
              <a:rPr lang="en-IN" dirty="0"/>
              <a:t> (First Notice of Loss)</a:t>
            </a:r>
            <a:r>
              <a:rPr dirty="0"/>
              <a:t>, is underpinned by what we are about to discuss. The </a:t>
            </a:r>
            <a:r>
              <a:rPr lang="en-IN" sz="1200" b="0" dirty="0">
                <a:solidFill>
                  <a:srgbClr val="FFFFFF"/>
                </a:solidFill>
                <a:latin typeface="Segoe UI"/>
              </a:rPr>
              <a:t>Senior Management</a:t>
            </a:r>
            <a:r>
              <a:rPr dirty="0"/>
              <a:t> is being asked to endorse a direction, ratify foundational architectural decisions, and authorize the first phase of execution. Keep the discussion at the level of business outcomes: customer trust, operational resilience, and the freeing of engineering capacity for growth.</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cost of inaction is not abstract. Every quarter we delay, we continue to lose engineering capacity to incident response, we continue to pay for overlapping tools, and we continue to learn about outages from customers rather than from our own systems. The window of opportunity is real: open standards have matured to the point where we can build a future-proof platform without locking ourselves into any single vendor. The board should hear this as a modernization investment with compounding returns — every phase makes the next phase cheaper and faster.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grounds the conversation in evidence rather than opinion. The 'today' column is uncomfortable but accurate; it is the picture our own teams describe when interviewed. The 'future state' column is not aspirational marketing — each item is tied to a measurable acceptance criterion in the underlying program plan. If pressed on which gap concerns leadership most, point to governance and cost discipline: without those, every other dimension regresses within a couple of quarters of any platform refresh.</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Dwell on this slide. Each bullet maps to a board-level concern: reliability speaks to the regulator and rating agency view, speed of recovery to operational risk, customer experience to NPS and retention, resilience to business continuity, and growth to the CFO's interest in delivery throughput. The error-budget mechanism deserves particular attention — it is the institutional discipline that automatically slows feature releases on any service that has consumed its reliability allowance. This is how we hard-wire the trade-off between speed and stability into the operating model rather than relying on case-by-case judgement.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financial story here is unusually favourable: this is not a 'spend money now to save money in five years' pitch. The savings from tool consolidation in Phase 1 substantially fund the more ambitious capabilities in later phases. We are not asking for new headcount of any scale — we are asking for a focused squad that becomes the centre of excellence and uses the Community of Practice model to scale enablement across existing teams. The single largest cost risk in any observability program is uncontrolled telemetry growth; our FinOps standard is designed specifically to govern that, with budget envelopes and automated escalation built in from day one.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phased approach is deliberately conservative. Each phase delivers standalone value: even if Phase 3 were deferred, Phases 1 and 2 alone would justify the investment. The phase-gate mechanism is critical — we will not advance on the basis of activity, only on the basis of measured outcomes sustained over time. This is how we protect the board from the classic transformation failure mode of milestones-met-but-value-not-delivered. The governance review at each gate is the formal checkpoint where leadership retains the option to pause, accelerate, or redirect the program.</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Governance is the single biggest determinant of long-term success — more so than tooling, more so than talent. Four bodies, clear remit, no overlap. Every material decision becomes an Architectural Decision Record, which gives us a defensible audit trail. The Exception Panel deserves particular emphasis: every standards exception is approved, time-boxed, and tracked, which means there are no permanent exceptions — this is the single most important guard against the slow erosion of standards that destroys most enterprise platforms over time. We will report governance outcomes to the Technology Committee of the Board on a regular cadence.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for the audit-committee perspective in the room. Observability done poorly creates compliance risk — telemetry can become a back door for sensitive data exfiltration. Observability done well becomes a continuous compliance asset. We have engineered for the latter from day one: PII redaction is enforced at the collection layer rather than at the destination, so sensitive data never reaches our storage systems. The watch-list items are flagged because they represent emerging regulations that will likely apply to our European operations in the near term — we are positioning the platform to absorb them without re-architecture.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have sequenced these risks by likelihood and material impact. The migration-debt risk is the most certain — every consolidation surfaces hidden complexity — and we mitigate with parallel running and a published decommissioning schedule. The cost risk is the one most often underestimated in observability programs; our FinOps standard institutes hard budget envelopes per service tier with automated escalation, which prevents quiet runaway spend. The adoption risk is rated relatively low because we are using a pull model — engineers genuinely want better tools, and we are giving them better tools rather than imposing process.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with clarity. Five specific asks, none of them open-ended, none of them requesting incremental capital outside the existing envelope. The strategic ask is endorsement and governance; the financial ask is modest because Phase 1 is self-funded through existing platform budgets and savings from tool consolidation. Emphasise the commitment: execution begins immediately on approval, and the first measured outcomes are reported back to the board at the next quarterly review. This is a strategy designed to be held accountable. Invite questions, but steer the conversation toward decision: what additional information does the board need today in order to grant the five approvals on this slide?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Four pillars, deliberately simplified for this audience. The decisive message is the fourth pillar — Business Insights. This is what separates modern observability from traditional IT monitoring: we will instrument value streams such as Quote-to-Bind and FNOL-to-Settlement, so that for the first time we can connect a technical event to a business consequence in real time. The choice of an open standard is strategically important: it is what guarantees we are never trapped by a vendor's pricing model or product roadmap.</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answers the implicit question every executive in the room is asking: what is in this for my function? The answer is direct and specific. For the CFO, observability becomes a financial control plane — we can see and attribute the cost of running each business process. For the CISO and Head of Risk, it is a continuous compliance evidence engine that replaces point-in-time audits with always-on assurance. For business heads, it is the structural difference between learning of an outage from a customer and catching it ourselves. Use this slide to invite each executive to name their single highest-priority value driver.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3429000"/>
            <a:ext cx="12191695" cy="3429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22960" y="2011680"/>
            <a:ext cx="1371600" cy="73152"/>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2103120"/>
            <a:ext cx="10515600" cy="1005840"/>
          </a:xfrm>
          <a:prstGeom prst="rect">
            <a:avLst/>
          </a:prstGeom>
          <a:noFill/>
        </p:spPr>
        <p:txBody>
          <a:bodyPr wrap="square" lIns="45720" tIns="18288" rIns="45720" bIns="18288" anchor="t">
            <a:spAutoFit/>
          </a:bodyPr>
          <a:lstStyle/>
          <a:p>
            <a:pPr algn="l"/>
            <a:r>
              <a:rPr sz="4800" b="1">
                <a:solidFill>
                  <a:srgbClr val="FFFFFF"/>
                </a:solidFill>
                <a:latin typeface="Segoe UI"/>
              </a:rPr>
              <a:t>Observability Strategy Rollout</a:t>
            </a:r>
          </a:p>
        </p:txBody>
      </p:sp>
      <p:sp>
        <p:nvSpPr>
          <p:cNvPr id="6" name="TextBox 5"/>
          <p:cNvSpPr txBox="1"/>
          <p:nvPr/>
        </p:nvSpPr>
        <p:spPr>
          <a:xfrm>
            <a:off x="822960" y="3200400"/>
            <a:ext cx="10515600" cy="640080"/>
          </a:xfrm>
          <a:prstGeom prst="rect">
            <a:avLst/>
          </a:prstGeom>
          <a:noFill/>
        </p:spPr>
        <p:txBody>
          <a:bodyPr wrap="square" lIns="45720" tIns="18288" rIns="45720" bIns="18288" anchor="t">
            <a:spAutoFit/>
          </a:bodyPr>
          <a:lstStyle/>
          <a:p>
            <a:pPr algn="l"/>
            <a:r>
              <a:rPr sz="2600" b="0" dirty="0">
                <a:solidFill>
                  <a:srgbClr val="FFFFFF"/>
                </a:solidFill>
                <a:latin typeface="Segoe UI"/>
              </a:rPr>
              <a:t>From Reactive Firefighting to Proactive Intelligence</a:t>
            </a:r>
          </a:p>
        </p:txBody>
      </p:sp>
      <p:sp>
        <p:nvSpPr>
          <p:cNvPr id="7" name="TextBox 6"/>
          <p:cNvSpPr txBox="1"/>
          <p:nvPr/>
        </p:nvSpPr>
        <p:spPr>
          <a:xfrm>
            <a:off x="822960" y="4937760"/>
            <a:ext cx="10515600" cy="283154"/>
          </a:xfrm>
          <a:prstGeom prst="rect">
            <a:avLst/>
          </a:prstGeom>
          <a:noFill/>
        </p:spPr>
        <p:txBody>
          <a:bodyPr wrap="square" lIns="45720" tIns="18288" rIns="45720" bIns="18288" anchor="t">
            <a:spAutoFit/>
          </a:bodyPr>
          <a:lstStyle/>
          <a:p>
            <a:pPr algn="l"/>
            <a:r>
              <a:rPr sz="1600" b="0" dirty="0">
                <a:solidFill>
                  <a:srgbClr val="FFFFFF"/>
                </a:solidFill>
                <a:latin typeface="Segoe UI"/>
              </a:rPr>
              <a:t>Presented to:  Senior Management</a:t>
            </a:r>
          </a:p>
        </p:txBody>
      </p:sp>
      <p:sp>
        <p:nvSpPr>
          <p:cNvPr id="8" name="TextBox 7"/>
          <p:cNvSpPr txBox="1"/>
          <p:nvPr/>
        </p:nvSpPr>
        <p:spPr>
          <a:xfrm>
            <a:off x="822960" y="5349240"/>
            <a:ext cx="10515600" cy="283154"/>
          </a:xfrm>
          <a:prstGeom prst="rect">
            <a:avLst/>
          </a:prstGeom>
          <a:noFill/>
        </p:spPr>
        <p:txBody>
          <a:bodyPr wrap="square" lIns="45720" tIns="18288" rIns="45720" bIns="18288" anchor="t">
            <a:spAutoFit/>
          </a:bodyPr>
          <a:lstStyle/>
          <a:p>
            <a:pPr algn="l"/>
            <a:r>
              <a:rPr sz="1600" b="0" dirty="0">
                <a:solidFill>
                  <a:srgbClr val="FFFFFF"/>
                </a:solidFill>
                <a:latin typeface="Segoe UI"/>
              </a:rPr>
              <a:t>Prepared by:  Office of the </a:t>
            </a:r>
            <a:r>
              <a:rPr lang="en-IN" sz="1600" b="0" dirty="0">
                <a:solidFill>
                  <a:srgbClr val="FFFFFF"/>
                </a:solidFill>
                <a:latin typeface="Segoe UI"/>
              </a:rPr>
              <a:t>CoE Architecture</a:t>
            </a:r>
            <a:endParaRPr sz="1600" b="0" dirty="0">
              <a:solidFill>
                <a:srgbClr val="FFFFFF"/>
              </a:solidFill>
              <a:latin typeface="Segoe UI"/>
            </a:endParaRPr>
          </a:p>
        </p:txBody>
      </p:sp>
      <p:sp>
        <p:nvSpPr>
          <p:cNvPr id="9" name="TextBox 8"/>
          <p:cNvSpPr txBox="1"/>
          <p:nvPr/>
        </p:nvSpPr>
        <p:spPr>
          <a:xfrm>
            <a:off x="822960" y="5760720"/>
            <a:ext cx="10515600" cy="365760"/>
          </a:xfrm>
          <a:prstGeom prst="rect">
            <a:avLst/>
          </a:prstGeom>
          <a:noFill/>
        </p:spPr>
        <p:txBody>
          <a:bodyPr wrap="square" lIns="45720" tIns="18288" rIns="45720" bIns="18288" anchor="t">
            <a:spAutoFit/>
          </a:bodyPr>
          <a:lstStyle/>
          <a:p>
            <a:pPr algn="l"/>
            <a:r>
              <a:rPr sz="1600" b="1" dirty="0">
                <a:solidFill>
                  <a:srgbClr val="C9A427"/>
                </a:solidFill>
                <a:latin typeface="Segoe UI"/>
              </a:rPr>
              <a:t>Status:  Decision &amp; Approval Required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pPr algn="l"/>
            <a:r>
              <a:rPr sz="1400" b="0" dirty="0">
                <a:solidFill>
                  <a:srgbClr val="555555"/>
                </a:solidFill>
                <a:latin typeface="Segoe UI"/>
              </a:rPr>
              <a:t>Observability Strategy  |  </a:t>
            </a:r>
            <a:r>
              <a:rPr lang="en-IN" sz="1400" b="0" dirty="0">
                <a:solidFill>
                  <a:srgbClr val="555555"/>
                </a:solidFill>
                <a:latin typeface="Segoe UI"/>
              </a:rPr>
              <a:t>Senior Management</a:t>
            </a:r>
            <a:endParaRPr sz="1400" b="0" dirty="0">
              <a:solidFill>
                <a:srgbClr val="555555"/>
              </a:solidFill>
              <a:latin typeface="Segoe UI"/>
            </a:endParaRP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Executive Summary — Why Now</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91640"/>
            <a:ext cx="11247120" cy="3644972"/>
          </a:xfrm>
          <a:prstGeom prst="rect">
            <a:avLst/>
          </a:prstGeom>
          <a:noFill/>
        </p:spPr>
        <p:txBody>
          <a:bodyPr wrap="square" lIns="45720" rIns="45720">
            <a:spAutoFit/>
          </a:bodyPr>
          <a:lstStyle/>
          <a:p>
            <a:pPr marL="342900" indent="-342900" algn="l">
              <a:lnSpc>
                <a:spcPct val="125000"/>
              </a:lnSpc>
              <a:spcAft>
                <a:spcPts val="1000"/>
              </a:spcAft>
              <a:buFont typeface="Arial" panose="020B0604020202020204" pitchFamily="34" charset="0"/>
              <a:buChar char="•"/>
            </a:pPr>
            <a:r>
              <a:rPr sz="2000" b="0" dirty="0">
                <a:solidFill>
                  <a:srgbClr val="1F1F1F"/>
                </a:solidFill>
                <a:latin typeface="Segoe UI"/>
              </a:rPr>
              <a:t>Our current operating posture is </a:t>
            </a:r>
            <a:r>
              <a:rPr sz="2000" b="1" dirty="0">
                <a:solidFill>
                  <a:srgbClr val="1F1F1F"/>
                </a:solidFill>
                <a:latin typeface="Segoe UI"/>
              </a:rPr>
              <a:t>reactive</a:t>
            </a:r>
            <a:r>
              <a:rPr sz="2000" b="0" dirty="0">
                <a:solidFill>
                  <a:srgbClr val="1F1F1F"/>
                </a:solidFill>
                <a:latin typeface="Segoe UI"/>
              </a:rPr>
              <a:t>: incidents are discovered through customer complaints rather than internal signals.</a:t>
            </a:r>
          </a:p>
          <a:p>
            <a:pPr marL="342900" indent="-342900" algn="l">
              <a:lnSpc>
                <a:spcPct val="125000"/>
              </a:lnSpc>
              <a:spcAft>
                <a:spcPts val="1000"/>
              </a:spcAft>
              <a:buFont typeface="Arial" panose="020B0604020202020204" pitchFamily="34" charset="0"/>
              <a:buChar char="•"/>
            </a:pPr>
            <a:r>
              <a:rPr sz="2000" b="1" dirty="0">
                <a:solidFill>
                  <a:srgbClr val="1F1F1F"/>
                </a:solidFill>
                <a:latin typeface="Segoe UI"/>
              </a:rPr>
              <a:t>Tool sprawl </a:t>
            </a:r>
            <a:r>
              <a:rPr sz="2000" b="0" dirty="0">
                <a:solidFill>
                  <a:srgbClr val="1F1F1F"/>
                </a:solidFill>
                <a:latin typeface="Segoe UI"/>
              </a:rPr>
              <a:t>has created blind </a:t>
            </a:r>
            <a:r>
              <a:rPr sz="2000" dirty="0">
                <a:solidFill>
                  <a:srgbClr val="1F1F1F"/>
                </a:solidFill>
                <a:latin typeface="Segoe UI"/>
              </a:rPr>
              <a:t>spots</a:t>
            </a:r>
            <a:r>
              <a:rPr sz="2000" b="0" dirty="0">
                <a:solidFill>
                  <a:srgbClr val="1F1F1F"/>
                </a:solidFill>
                <a:latin typeface="Segoe UI"/>
              </a:rPr>
              <a:t>, duplicated spend, and inconsistent service quality across business lines.</a:t>
            </a:r>
          </a:p>
          <a:p>
            <a:pPr marL="342900" indent="-342900" algn="l">
              <a:lnSpc>
                <a:spcPct val="125000"/>
              </a:lnSpc>
              <a:spcAft>
                <a:spcPts val="1000"/>
              </a:spcAft>
              <a:buFont typeface="Arial" panose="020B0604020202020204" pitchFamily="34" charset="0"/>
              <a:buChar char="•"/>
            </a:pPr>
            <a:r>
              <a:rPr sz="2000" b="0" dirty="0">
                <a:solidFill>
                  <a:srgbClr val="1F1F1F"/>
                </a:solidFill>
                <a:latin typeface="Segoe UI"/>
              </a:rPr>
              <a:t>A unified observability capability moves us from </a:t>
            </a:r>
            <a:r>
              <a:rPr sz="2000" b="1" dirty="0">
                <a:solidFill>
                  <a:srgbClr val="1F1F1F"/>
                </a:solidFill>
                <a:latin typeface="Segoe UI"/>
              </a:rPr>
              <a:t>detecting failure to anticipating it</a:t>
            </a:r>
            <a:r>
              <a:rPr sz="2000" b="0" dirty="0">
                <a:solidFill>
                  <a:srgbClr val="1F1F1F"/>
                </a:solidFill>
                <a:latin typeface="Segoe UI"/>
              </a:rPr>
              <a:t>.</a:t>
            </a:r>
          </a:p>
          <a:p>
            <a:pPr marL="342900" indent="-342900" algn="l">
              <a:lnSpc>
                <a:spcPct val="125000"/>
              </a:lnSpc>
              <a:spcAft>
                <a:spcPts val="1000"/>
              </a:spcAft>
              <a:buFont typeface="Arial" panose="020B0604020202020204" pitchFamily="34" charset="0"/>
              <a:buChar char="•"/>
            </a:pPr>
            <a:r>
              <a:rPr sz="2000" b="0" dirty="0">
                <a:solidFill>
                  <a:srgbClr val="1F1F1F"/>
                </a:solidFill>
                <a:latin typeface="Segoe UI"/>
              </a:rPr>
              <a:t>The result is </a:t>
            </a:r>
            <a:r>
              <a:rPr sz="2000" b="1" dirty="0">
                <a:solidFill>
                  <a:srgbClr val="1F1F1F"/>
                </a:solidFill>
                <a:latin typeface="Segoe UI"/>
              </a:rPr>
              <a:t>faster recovery, fewer customer-visible incidents, and engineering capacity redirected from firefighting to growth</a:t>
            </a:r>
            <a:r>
              <a:rPr sz="2000" b="0" dirty="0">
                <a:solidFill>
                  <a:srgbClr val="1F1F1F"/>
                </a:solidFill>
                <a:latin typeface="Segoe UI"/>
              </a:rPr>
              <a:t>.</a:t>
            </a:r>
          </a:p>
          <a:p>
            <a:pPr marL="342900" indent="-342900" algn="l">
              <a:lnSpc>
                <a:spcPct val="125000"/>
              </a:lnSpc>
              <a:spcAft>
                <a:spcPts val="1000"/>
              </a:spcAft>
              <a:buFont typeface="Arial" panose="020B0604020202020204" pitchFamily="34" charset="0"/>
              <a:buChar char="•"/>
            </a:pPr>
            <a:r>
              <a:rPr sz="2000" b="0" dirty="0">
                <a:solidFill>
                  <a:srgbClr val="1F1F1F"/>
                </a:solidFill>
                <a:latin typeface="Segoe UI"/>
              </a:rPr>
              <a:t>This is a </a:t>
            </a:r>
            <a:r>
              <a:rPr sz="2000" b="1" dirty="0">
                <a:solidFill>
                  <a:srgbClr val="1F1F1F"/>
                </a:solidFill>
                <a:latin typeface="Segoe UI"/>
              </a:rPr>
              <a:t>competitive differentiator</a:t>
            </a:r>
            <a:r>
              <a:rPr sz="2000" b="0" dirty="0">
                <a:solidFill>
                  <a:srgbClr val="1F1F1F"/>
                </a:solidFill>
                <a:latin typeface="Segoe UI"/>
              </a:rPr>
              <a:t> for an </a:t>
            </a:r>
            <a:r>
              <a:rPr lang="en-IN" sz="2000" b="0" dirty="0">
                <a:solidFill>
                  <a:srgbClr val="1F1F1F"/>
                </a:solidFill>
                <a:latin typeface="Segoe UI"/>
              </a:rPr>
              <a:t>organisation</a:t>
            </a:r>
            <a:r>
              <a:rPr sz="2000" b="0" dirty="0">
                <a:solidFill>
                  <a:srgbClr val="1F1F1F"/>
                </a:solidFill>
                <a:latin typeface="Segoe UI"/>
              </a:rPr>
              <a:t>.</a:t>
            </a:r>
          </a:p>
        </p:txBody>
      </p:sp>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pPr algn="l"/>
            <a:r>
              <a:rPr sz="1000" b="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fld id="{11111111-1111-1111-1111-111111111111}" type="slidenum">
              <a:rPr sz="1000" b="0">
                <a:solidFill>
                  <a:srgbClr val="555555"/>
                </a:solidFill>
                <a:latin typeface="Segoe UI"/>
              </a:rPr>
              <a:t>2</a:t>
            </a:fld>
            <a:endParaRPr sz="1000" b="0">
              <a:solidFill>
                <a:srgbClr val="555555"/>
              </a:solidFill>
              <a:latin typeface="Segoe U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Current State vs. Future Vision</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474910972"/>
              </p:ext>
            </p:extLst>
          </p:nvPr>
        </p:nvGraphicFramePr>
        <p:xfrm>
          <a:off x="457200" y="1737360"/>
          <a:ext cx="11247120" cy="420624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701040">
                <a:tc>
                  <a:txBody>
                    <a:bodyPr/>
                    <a:lstStyle/>
                    <a:p>
                      <a:pPr algn="l"/>
                      <a:r>
                        <a:rPr sz="1500" b="1" dirty="0">
                          <a:solidFill>
                            <a:srgbClr val="FFFFFF"/>
                          </a:solidFill>
                          <a:latin typeface="Segoe UI"/>
                        </a:rPr>
                        <a:t>Dimension</a:t>
                      </a:r>
                    </a:p>
                  </a:txBody>
                  <a:tcPr marT="54864" marB="54864" anchor="ctr">
                    <a:solidFill>
                      <a:srgbClr val="0B3D91"/>
                    </a:solidFill>
                  </a:tcPr>
                </a:tc>
                <a:tc>
                  <a:txBody>
                    <a:bodyPr/>
                    <a:lstStyle/>
                    <a:p>
                      <a:pPr algn="l"/>
                      <a:r>
                        <a:rPr sz="1500" b="1">
                          <a:solidFill>
                            <a:srgbClr val="FFFFFF"/>
                          </a:solidFill>
                          <a:latin typeface="Segoe UI"/>
                        </a:rPr>
                        <a:t>Today</a:t>
                      </a:r>
                    </a:p>
                  </a:txBody>
                  <a:tcPr marT="54864" marB="54864" anchor="ctr">
                    <a:solidFill>
                      <a:srgbClr val="0B3D91"/>
                    </a:solidFill>
                  </a:tcPr>
                </a:tc>
                <a:tc>
                  <a:txBody>
                    <a:bodyPr/>
                    <a:lstStyle/>
                    <a:p>
                      <a:pPr algn="l"/>
                      <a:r>
                        <a:rPr sz="1500" b="1">
                          <a:solidFill>
                            <a:srgbClr val="FFFFFF"/>
                          </a:solidFill>
                          <a:latin typeface="Segoe UI"/>
                        </a:rPr>
                        <a:t>Future State</a:t>
                      </a:r>
                    </a:p>
                  </a:txBody>
                  <a:tcPr marT="54864" marB="54864" anchor="ctr">
                    <a:solidFill>
                      <a:srgbClr val="0B3D91"/>
                    </a:solidFill>
                  </a:tcPr>
                </a:tc>
                <a:extLst>
                  <a:ext uri="{0D108BD9-81ED-4DB2-BD59-A6C34878D82A}">
                    <a16:rowId xmlns:a16="http://schemas.microsoft.com/office/drawing/2014/main" val="10000"/>
                  </a:ext>
                </a:extLst>
              </a:tr>
              <a:tr h="701040">
                <a:tc>
                  <a:txBody>
                    <a:bodyPr/>
                    <a:lstStyle/>
                    <a:p>
                      <a:pPr algn="l"/>
                      <a:r>
                        <a:rPr sz="1500" b="1" dirty="0">
                          <a:solidFill>
                            <a:srgbClr val="0B3D91"/>
                          </a:solidFill>
                          <a:latin typeface="Segoe UI"/>
                        </a:rPr>
                        <a:t>Visibility</a:t>
                      </a:r>
                    </a:p>
                  </a:txBody>
                  <a:tcPr marT="54864" marB="54864" anchor="ctr">
                    <a:solidFill>
                      <a:srgbClr val="FFFFFF"/>
                    </a:solidFill>
                  </a:tcPr>
                </a:tc>
                <a:tc>
                  <a:txBody>
                    <a:bodyPr/>
                    <a:lstStyle/>
                    <a:p>
                      <a:pPr algn="l"/>
                      <a:r>
                        <a:rPr sz="1500" b="0">
                          <a:solidFill>
                            <a:srgbClr val="1F1F1F"/>
                          </a:solidFill>
                          <a:latin typeface="Segoe UI"/>
                        </a:rPr>
                        <a:t>Siloed logs, metrics, traces across teams</a:t>
                      </a:r>
                    </a:p>
                  </a:txBody>
                  <a:tcPr marT="54864" marB="54864" anchor="ctr">
                    <a:solidFill>
                      <a:srgbClr val="FFFFFF"/>
                    </a:solidFill>
                  </a:tcPr>
                </a:tc>
                <a:tc>
                  <a:txBody>
                    <a:bodyPr/>
                    <a:lstStyle/>
                    <a:p>
                      <a:pPr algn="l"/>
                      <a:r>
                        <a:rPr sz="1500" b="0" dirty="0">
                          <a:solidFill>
                            <a:srgbClr val="1F1F1F"/>
                          </a:solidFill>
                          <a:latin typeface="Segoe UI"/>
                        </a:rPr>
                        <a:t>Single pane of glass across all services</a:t>
                      </a:r>
                    </a:p>
                  </a:txBody>
                  <a:tcPr marT="54864" marB="54864" anchor="ctr">
                    <a:solidFill>
                      <a:srgbClr val="FFFFFF"/>
                    </a:solidFill>
                  </a:tcPr>
                </a:tc>
                <a:extLst>
                  <a:ext uri="{0D108BD9-81ED-4DB2-BD59-A6C34878D82A}">
                    <a16:rowId xmlns:a16="http://schemas.microsoft.com/office/drawing/2014/main" val="10001"/>
                  </a:ext>
                </a:extLst>
              </a:tr>
              <a:tr h="701040">
                <a:tc>
                  <a:txBody>
                    <a:bodyPr/>
                    <a:lstStyle/>
                    <a:p>
                      <a:pPr algn="l"/>
                      <a:r>
                        <a:rPr sz="1500" b="1">
                          <a:solidFill>
                            <a:srgbClr val="0B3D91"/>
                          </a:solidFill>
                          <a:latin typeface="Segoe UI"/>
                        </a:rPr>
                        <a:t>Detection</a:t>
                      </a:r>
                    </a:p>
                  </a:txBody>
                  <a:tcPr marT="54864" marB="54864" anchor="ctr">
                    <a:solidFill>
                      <a:srgbClr val="EEF1F7"/>
                    </a:solidFill>
                  </a:tcPr>
                </a:tc>
                <a:tc>
                  <a:txBody>
                    <a:bodyPr/>
                    <a:lstStyle/>
                    <a:p>
                      <a:pPr algn="l"/>
                      <a:r>
                        <a:rPr sz="1500" b="0" dirty="0">
                          <a:solidFill>
                            <a:srgbClr val="1F1F1F"/>
                          </a:solidFill>
                          <a:latin typeface="Segoe UI"/>
                        </a:rPr>
                        <a:t>Customers often notify us first</a:t>
                      </a:r>
                    </a:p>
                  </a:txBody>
                  <a:tcPr marT="54864" marB="54864" anchor="ctr">
                    <a:solidFill>
                      <a:srgbClr val="EEF1F7"/>
                    </a:solidFill>
                  </a:tcPr>
                </a:tc>
                <a:tc>
                  <a:txBody>
                    <a:bodyPr/>
                    <a:lstStyle/>
                    <a:p>
                      <a:pPr algn="l"/>
                      <a:r>
                        <a:rPr sz="1500" b="0" dirty="0">
                          <a:solidFill>
                            <a:srgbClr val="1F1F1F"/>
                          </a:solidFill>
                          <a:latin typeface="Segoe UI"/>
                        </a:rPr>
                        <a:t>Internal systems detect before customer impact</a:t>
                      </a:r>
                    </a:p>
                  </a:txBody>
                  <a:tcPr marT="54864" marB="54864" anchor="ctr">
                    <a:solidFill>
                      <a:srgbClr val="EEF1F7"/>
                    </a:solidFill>
                  </a:tcPr>
                </a:tc>
                <a:extLst>
                  <a:ext uri="{0D108BD9-81ED-4DB2-BD59-A6C34878D82A}">
                    <a16:rowId xmlns:a16="http://schemas.microsoft.com/office/drawing/2014/main" val="10002"/>
                  </a:ext>
                </a:extLst>
              </a:tr>
              <a:tr h="701040">
                <a:tc>
                  <a:txBody>
                    <a:bodyPr/>
                    <a:lstStyle/>
                    <a:p>
                      <a:pPr algn="l"/>
                      <a:r>
                        <a:rPr sz="1500" b="1">
                          <a:solidFill>
                            <a:srgbClr val="0B3D91"/>
                          </a:solidFill>
                          <a:latin typeface="Segoe UI"/>
                        </a:rPr>
                        <a:t>Diagnosis</a:t>
                      </a:r>
                    </a:p>
                  </a:txBody>
                  <a:tcPr marT="54864" marB="54864" anchor="ctr">
                    <a:solidFill>
                      <a:srgbClr val="FFFFFF"/>
                    </a:solidFill>
                  </a:tcPr>
                </a:tc>
                <a:tc>
                  <a:txBody>
                    <a:bodyPr/>
                    <a:lstStyle/>
                    <a:p>
                      <a:pPr algn="l"/>
                      <a:r>
                        <a:rPr sz="1500" b="0" dirty="0">
                          <a:solidFill>
                            <a:srgbClr val="1F1F1F"/>
                          </a:solidFill>
                          <a:latin typeface="Segoe UI"/>
                        </a:rPr>
                        <a:t>Manual root-cause investigation</a:t>
                      </a:r>
                    </a:p>
                  </a:txBody>
                  <a:tcPr marT="54864" marB="54864" anchor="ctr">
                    <a:solidFill>
                      <a:srgbClr val="FFFFFF"/>
                    </a:solidFill>
                  </a:tcPr>
                </a:tc>
                <a:tc>
                  <a:txBody>
                    <a:bodyPr/>
                    <a:lstStyle/>
                    <a:p>
                      <a:pPr algn="l"/>
                      <a:r>
                        <a:rPr sz="1500" b="0" dirty="0">
                          <a:solidFill>
                            <a:srgbClr val="1F1F1F"/>
                          </a:solidFill>
                          <a:latin typeface="Segoe UI"/>
                        </a:rPr>
                        <a:t>AI-assisted, evidence-backed diagnosis</a:t>
                      </a:r>
                    </a:p>
                  </a:txBody>
                  <a:tcPr marT="54864" marB="54864" anchor="ctr">
                    <a:solidFill>
                      <a:srgbClr val="FFFFFF"/>
                    </a:solidFill>
                  </a:tcPr>
                </a:tc>
                <a:extLst>
                  <a:ext uri="{0D108BD9-81ED-4DB2-BD59-A6C34878D82A}">
                    <a16:rowId xmlns:a16="http://schemas.microsoft.com/office/drawing/2014/main" val="10003"/>
                  </a:ext>
                </a:extLst>
              </a:tr>
              <a:tr h="701040">
                <a:tc>
                  <a:txBody>
                    <a:bodyPr/>
                    <a:lstStyle/>
                    <a:p>
                      <a:pPr algn="l"/>
                      <a:r>
                        <a:rPr sz="1500" b="1">
                          <a:solidFill>
                            <a:srgbClr val="0B3D91"/>
                          </a:solidFill>
                          <a:latin typeface="Segoe UI"/>
                        </a:rPr>
                        <a:t>Coverage</a:t>
                      </a:r>
                    </a:p>
                  </a:txBody>
                  <a:tcPr marT="54864" marB="54864" anchor="ctr">
                    <a:solidFill>
                      <a:srgbClr val="EEF1F7"/>
                    </a:solidFill>
                  </a:tcPr>
                </a:tc>
                <a:tc>
                  <a:txBody>
                    <a:bodyPr/>
                    <a:lstStyle/>
                    <a:p>
                      <a:pPr algn="l"/>
                      <a:r>
                        <a:rPr sz="1500" b="0" dirty="0">
                          <a:solidFill>
                            <a:srgbClr val="1F1F1F"/>
                          </a:solidFill>
                          <a:latin typeface="Segoe UI"/>
                        </a:rPr>
                        <a:t>Inconsistent across services</a:t>
                      </a:r>
                    </a:p>
                  </a:txBody>
                  <a:tcPr marT="54864" marB="54864" anchor="ctr">
                    <a:solidFill>
                      <a:srgbClr val="EEF1F7"/>
                    </a:solidFill>
                  </a:tcPr>
                </a:tc>
                <a:tc>
                  <a:txBody>
                    <a:bodyPr/>
                    <a:lstStyle/>
                    <a:p>
                      <a:pPr algn="l"/>
                      <a:r>
                        <a:rPr sz="1500" b="0" dirty="0">
                          <a:solidFill>
                            <a:srgbClr val="1F1F1F"/>
                          </a:solidFill>
                          <a:latin typeface="Segoe UI"/>
                        </a:rPr>
                        <a:t>Uniform standard for every critical service</a:t>
                      </a:r>
                    </a:p>
                  </a:txBody>
                  <a:tcPr marT="54864" marB="54864" anchor="ctr">
                    <a:solidFill>
                      <a:srgbClr val="EEF1F7"/>
                    </a:solidFill>
                  </a:tcPr>
                </a:tc>
                <a:extLst>
                  <a:ext uri="{0D108BD9-81ED-4DB2-BD59-A6C34878D82A}">
                    <a16:rowId xmlns:a16="http://schemas.microsoft.com/office/drawing/2014/main" val="10004"/>
                  </a:ext>
                </a:extLst>
              </a:tr>
              <a:tr h="701040">
                <a:tc>
                  <a:txBody>
                    <a:bodyPr/>
                    <a:lstStyle/>
                    <a:p>
                      <a:pPr algn="l"/>
                      <a:r>
                        <a:rPr sz="1500" b="1">
                          <a:solidFill>
                            <a:srgbClr val="0B3D91"/>
                          </a:solidFill>
                          <a:latin typeface="Segoe UI"/>
                        </a:rPr>
                        <a:t>Cost Posture</a:t>
                      </a:r>
                    </a:p>
                  </a:txBody>
                  <a:tcPr marT="54864" marB="54864" anchor="ctr">
                    <a:solidFill>
                      <a:srgbClr val="FFFFFF"/>
                    </a:solidFill>
                  </a:tcPr>
                </a:tc>
                <a:tc>
                  <a:txBody>
                    <a:bodyPr/>
                    <a:lstStyle/>
                    <a:p>
                      <a:pPr algn="l"/>
                      <a:r>
                        <a:rPr sz="1500" b="0" dirty="0">
                          <a:solidFill>
                            <a:srgbClr val="1F1F1F"/>
                          </a:solidFill>
                          <a:latin typeface="Segoe UI"/>
                        </a:rPr>
                        <a:t>Fragmented and unpredictable</a:t>
                      </a:r>
                    </a:p>
                  </a:txBody>
                  <a:tcPr marT="54864" marB="54864" anchor="ctr">
                    <a:solidFill>
                      <a:srgbClr val="FFFFFF"/>
                    </a:solidFill>
                  </a:tcPr>
                </a:tc>
                <a:tc>
                  <a:txBody>
                    <a:bodyPr/>
                    <a:lstStyle/>
                    <a:p>
                      <a:pPr algn="l"/>
                      <a:r>
                        <a:rPr sz="1500" b="0" dirty="0">
                          <a:solidFill>
                            <a:srgbClr val="1F1F1F"/>
                          </a:solidFill>
                          <a:latin typeface="Segoe UI"/>
                        </a:rPr>
                        <a:t>Governed, transparent, attributable to lines of business</a:t>
                      </a:r>
                    </a:p>
                  </a:txBody>
                  <a:tcPr marT="54864" marB="54864"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fld id="{11111111-1111-1111-1111-111111111111}" type="slidenum">
              <a:rPr sz="1000" b="0">
                <a:solidFill>
                  <a:srgbClr val="555555"/>
                </a:solidFill>
                <a:latin typeface="Segoe UI"/>
              </a:rPr>
              <a:t>3</a:t>
            </a:fld>
            <a:endParaRPr sz="1000" b="0">
              <a:solidFill>
                <a:srgbClr val="555555"/>
              </a:solidFill>
              <a:latin typeface="Segoe U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Expected Business Impact</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91640"/>
            <a:ext cx="11247120" cy="4033476"/>
          </a:xfrm>
          <a:prstGeom prst="rect">
            <a:avLst/>
          </a:prstGeom>
          <a:noFill/>
        </p:spPr>
        <p:txBody>
          <a:bodyPr wrap="square" lIns="45720" rIns="45720">
            <a:spAutoFit/>
          </a:bodyPr>
          <a:lstStyle/>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Reliability</a:t>
            </a:r>
            <a:r>
              <a:rPr sz="1800" b="0" dirty="0">
                <a:solidFill>
                  <a:srgbClr val="1F1F1F"/>
                </a:solidFill>
                <a:latin typeface="Segoe UI"/>
              </a:rPr>
              <a:t> — formal service-level commitments for customer-facing systems, backed by error budgets that govern the trade-off between speed and stability.</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Speed of Recovery</a:t>
            </a:r>
            <a:r>
              <a:rPr sz="1800" b="0" dirty="0">
                <a:solidFill>
                  <a:srgbClr val="1F1F1F"/>
                </a:solidFill>
                <a:latin typeface="Segoe UI"/>
              </a:rPr>
              <a:t> — incidents detected, diagnosed, and resolved materially faster than today, with fewer escalations to senior engineers.</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Customer Experience</a:t>
            </a:r>
            <a:r>
              <a:rPr sz="1800" b="0" dirty="0">
                <a:solidFill>
                  <a:srgbClr val="1F1F1F"/>
                </a:solidFill>
                <a:latin typeface="Segoe UI"/>
              </a:rPr>
              <a:t> — issues caught and remediated before they reach the customer; broker and policyholder confidence preserved.</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Operational Resilience</a:t>
            </a:r>
            <a:r>
              <a:rPr sz="1800" b="0" dirty="0">
                <a:solidFill>
                  <a:srgbClr val="1F1F1F"/>
                </a:solidFill>
                <a:latin typeface="Segoe UI"/>
              </a:rPr>
              <a:t> — clear, tested recovery commitments for every tier of service, defensible to regulators and rating agencies.</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Growth Enablement</a:t>
            </a:r>
            <a:r>
              <a:rPr sz="1800" b="0" dirty="0">
                <a:solidFill>
                  <a:srgbClr val="1F1F1F"/>
                </a:solidFill>
                <a:latin typeface="Segoe UI"/>
              </a:rPr>
              <a:t> — engineering capacity reclaimed from incident response is redirected to product delivery and innovation.</a:t>
            </a:r>
          </a:p>
        </p:txBody>
      </p:sp>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fld id="{11111111-1111-1111-1111-111111111111}" type="slidenum">
              <a:rPr sz="1000" b="0">
                <a:solidFill>
                  <a:srgbClr val="555555"/>
                </a:solidFill>
                <a:latin typeface="Segoe UI"/>
              </a:rPr>
              <a:t>4</a:t>
            </a:fld>
            <a:endParaRPr sz="1000" b="0">
              <a:solidFill>
                <a:srgbClr val="555555"/>
              </a:solidFill>
              <a:latin typeface="Segoe U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dirty="0">
                <a:solidFill>
                  <a:srgbClr val="0B3D91"/>
                </a:solidFill>
                <a:latin typeface="Segoe UI"/>
              </a:rPr>
              <a:t>Resource Requirements — Investment View</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91640"/>
            <a:ext cx="11247120" cy="3843040"/>
          </a:xfrm>
          <a:prstGeom prst="rect">
            <a:avLst/>
          </a:prstGeom>
          <a:noFill/>
        </p:spPr>
        <p:txBody>
          <a:bodyPr wrap="square" lIns="45720" rIns="45720">
            <a:spAutoFit/>
          </a:bodyPr>
          <a:lstStyle/>
          <a:p>
            <a:pPr marL="285750" indent="-285750" algn="l">
              <a:lnSpc>
                <a:spcPct val="125000"/>
              </a:lnSpc>
              <a:spcAft>
                <a:spcPts val="1000"/>
              </a:spcAft>
              <a:buFont typeface="Arial" panose="020B0604020202020204" pitchFamily="34" charset="0"/>
              <a:buChar char="•"/>
            </a:pPr>
            <a:r>
              <a:rPr sz="1700" b="1" dirty="0">
                <a:solidFill>
                  <a:srgbClr val="1F1F1F"/>
                </a:solidFill>
                <a:latin typeface="Segoe UI"/>
              </a:rPr>
              <a:t>Talent</a:t>
            </a:r>
            <a:r>
              <a:rPr sz="1700" b="0" dirty="0">
                <a:solidFill>
                  <a:srgbClr val="1F1F1F"/>
                </a:solidFill>
                <a:latin typeface="Segoe UI"/>
              </a:rPr>
              <a:t> — we already have engineers building application logging and a separate team beginning infrastructure observability; the strategy brings these efforts together into one holistic, cross-domain practice rather than adding net-new headcount.</a:t>
            </a:r>
          </a:p>
          <a:p>
            <a:pPr marL="285750" indent="-285750" algn="l">
              <a:lnSpc>
                <a:spcPct val="125000"/>
              </a:lnSpc>
              <a:spcAft>
                <a:spcPts val="1000"/>
              </a:spcAft>
              <a:buFont typeface="Arial" panose="020B0604020202020204" pitchFamily="34" charset="0"/>
              <a:buChar char="•"/>
            </a:pPr>
            <a:r>
              <a:rPr sz="1700" b="1" dirty="0">
                <a:solidFill>
                  <a:srgbClr val="1F1F1F"/>
                </a:solidFill>
                <a:latin typeface="Segoe UI"/>
              </a:rPr>
              <a:t>Tooling Posture</a:t>
            </a:r>
            <a:r>
              <a:rPr sz="1700" b="0" dirty="0">
                <a:solidFill>
                  <a:srgbClr val="1F1F1F"/>
                </a:solidFill>
                <a:latin typeface="Segoe UI"/>
              </a:rPr>
              <a:t> — open-source core technologies, eliminating per-seat and per-host vendor licensing for the foundation layer.</a:t>
            </a:r>
          </a:p>
          <a:p>
            <a:pPr marL="285750" indent="-285750" algn="l">
              <a:lnSpc>
                <a:spcPct val="125000"/>
              </a:lnSpc>
              <a:spcAft>
                <a:spcPts val="1000"/>
              </a:spcAft>
              <a:buFont typeface="Arial" panose="020B0604020202020204" pitchFamily="34" charset="0"/>
              <a:buChar char="•"/>
            </a:pPr>
            <a:r>
              <a:rPr sz="1700" b="1" dirty="0">
                <a:solidFill>
                  <a:srgbClr val="1F1F1F"/>
                </a:solidFill>
                <a:latin typeface="Segoe UI"/>
              </a:rPr>
              <a:t>Funding Model</a:t>
            </a:r>
            <a:r>
              <a:rPr sz="1700" b="0" dirty="0">
                <a:solidFill>
                  <a:srgbClr val="1F1F1F"/>
                </a:solidFill>
                <a:latin typeface="Segoe UI"/>
              </a:rPr>
              <a:t> — Phase 1 absorbed within the existing platform budget envelope; cost savings from tool consolidation self-fund subsequent phases.</a:t>
            </a:r>
          </a:p>
          <a:p>
            <a:pPr marL="285750" indent="-285750" algn="l">
              <a:lnSpc>
                <a:spcPct val="125000"/>
              </a:lnSpc>
              <a:spcAft>
                <a:spcPts val="1000"/>
              </a:spcAft>
              <a:buFont typeface="Arial" panose="020B0604020202020204" pitchFamily="34" charset="0"/>
              <a:buChar char="•"/>
            </a:pPr>
            <a:r>
              <a:rPr sz="1700" b="1" dirty="0">
                <a:solidFill>
                  <a:srgbClr val="1F1F1F"/>
                </a:solidFill>
                <a:latin typeface="Segoe UI"/>
              </a:rPr>
              <a:t>Cost Discipline</a:t>
            </a:r>
            <a:r>
              <a:rPr sz="1700" b="0" dirty="0">
                <a:solidFill>
                  <a:srgbClr val="1F1F1F"/>
                </a:solidFill>
                <a:latin typeface="Segoe UI"/>
              </a:rPr>
              <a:t> — no FinOps capability exists today; we must define and standardise one as a priority, establishing budget envelopes per service tier and automated variance alerts to control observability and cloud spend.</a:t>
            </a:r>
          </a:p>
          <a:p>
            <a:pPr marL="285750" indent="-285750" algn="l">
              <a:lnSpc>
                <a:spcPct val="125000"/>
              </a:lnSpc>
              <a:spcAft>
                <a:spcPts val="1000"/>
              </a:spcAft>
              <a:buFont typeface="Arial" panose="020B0604020202020204" pitchFamily="34" charset="0"/>
              <a:buChar char="•"/>
            </a:pPr>
            <a:r>
              <a:rPr sz="1700" b="1" dirty="0">
                <a:solidFill>
                  <a:srgbClr val="1F1F1F"/>
                </a:solidFill>
                <a:latin typeface="Segoe UI"/>
              </a:rPr>
              <a:t>Talent Development</a:t>
            </a:r>
            <a:r>
              <a:rPr sz="1700" b="0" dirty="0">
                <a:solidFill>
                  <a:srgbClr val="1F1F1F"/>
                </a:solidFill>
                <a:latin typeface="Segoe UI"/>
              </a:rPr>
              <a:t> — engineers across the organisation up-skilled through a Community of Practice and champions network, accelerating the unified observability practice without a parallel team.</a:t>
            </a:r>
          </a:p>
        </p:txBody>
      </p:sp>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fld id="{11111111-1111-1111-1111-111111111111}" type="slidenum">
              <a:rPr sz="1000" b="0">
                <a:solidFill>
                  <a:srgbClr val="555555"/>
                </a:solidFill>
                <a:latin typeface="Segoe UI"/>
              </a:rPr>
              <a:t>5</a:t>
            </a:fld>
            <a:endParaRPr sz="1000" b="0">
              <a:solidFill>
                <a:srgbClr val="555555"/>
              </a:solidFill>
              <a:latin typeface="Segoe U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Twelve-Month Roadmap — Three Phases</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914615130"/>
              </p:ext>
            </p:extLst>
          </p:nvPr>
        </p:nvGraphicFramePr>
        <p:xfrm>
          <a:off x="457200" y="1737360"/>
          <a:ext cx="11247120" cy="32918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5303520">
                  <a:extLst>
                    <a:ext uri="{9D8B030D-6E8A-4147-A177-3AD203B41FA5}">
                      <a16:colId xmlns:a16="http://schemas.microsoft.com/office/drawing/2014/main" val="20002"/>
                    </a:ext>
                  </a:extLst>
                </a:gridCol>
              </a:tblGrid>
              <a:tr h="822960">
                <a:tc>
                  <a:txBody>
                    <a:bodyPr/>
                    <a:lstStyle/>
                    <a:p>
                      <a:pPr algn="l"/>
                      <a:r>
                        <a:rPr sz="1800" b="1" dirty="0">
                          <a:solidFill>
                            <a:srgbClr val="FFFFFF"/>
                          </a:solidFill>
                          <a:latin typeface="Segoe UI"/>
                        </a:rPr>
                        <a:t>Phase</a:t>
                      </a:r>
                    </a:p>
                  </a:txBody>
                  <a:tcPr marT="54864" marB="54864" anchor="ctr">
                    <a:solidFill>
                      <a:srgbClr val="0B3D91"/>
                    </a:solidFill>
                  </a:tcPr>
                </a:tc>
                <a:tc>
                  <a:txBody>
                    <a:bodyPr/>
                    <a:lstStyle/>
                    <a:p>
                      <a:pPr algn="l"/>
                      <a:r>
                        <a:rPr sz="1800" b="1" dirty="0">
                          <a:solidFill>
                            <a:srgbClr val="FFFFFF"/>
                          </a:solidFill>
                          <a:latin typeface="Segoe UI"/>
                        </a:rPr>
                        <a:t>Theme</a:t>
                      </a:r>
                    </a:p>
                  </a:txBody>
                  <a:tcPr marT="54864" marB="54864" anchor="ctr">
                    <a:solidFill>
                      <a:srgbClr val="0B3D91"/>
                    </a:solidFill>
                  </a:tcPr>
                </a:tc>
                <a:tc>
                  <a:txBody>
                    <a:bodyPr/>
                    <a:lstStyle/>
                    <a:p>
                      <a:pPr algn="l"/>
                      <a:r>
                        <a:rPr sz="1800" b="1" dirty="0">
                          <a:solidFill>
                            <a:srgbClr val="FFFFFF"/>
                          </a:solidFill>
                          <a:latin typeface="Segoe UI"/>
                        </a:rPr>
                        <a:t>Outcome</a:t>
                      </a:r>
                    </a:p>
                  </a:txBody>
                  <a:tcPr marT="54864" marB="54864" anchor="ctr">
                    <a:solidFill>
                      <a:srgbClr val="0B3D91"/>
                    </a:solidFill>
                  </a:tcPr>
                </a:tc>
                <a:extLst>
                  <a:ext uri="{0D108BD9-81ED-4DB2-BD59-A6C34878D82A}">
                    <a16:rowId xmlns:a16="http://schemas.microsoft.com/office/drawing/2014/main" val="10000"/>
                  </a:ext>
                </a:extLst>
              </a:tr>
              <a:tr h="822960">
                <a:tc>
                  <a:txBody>
                    <a:bodyPr/>
                    <a:lstStyle/>
                    <a:p>
                      <a:pPr algn="l"/>
                      <a:r>
                        <a:rPr sz="1600" b="1" dirty="0">
                          <a:solidFill>
                            <a:srgbClr val="0B3D91"/>
                          </a:solidFill>
                          <a:latin typeface="Segoe UI"/>
                        </a:rPr>
                        <a:t>Phase 1 — Foundation</a:t>
                      </a:r>
                    </a:p>
                  </a:txBody>
                  <a:tcPr marT="54864" marB="54864" anchor="ctr">
                    <a:solidFill>
                      <a:srgbClr val="FFFFFF"/>
                    </a:solidFill>
                  </a:tcPr>
                </a:tc>
                <a:tc>
                  <a:txBody>
                    <a:bodyPr/>
                    <a:lstStyle/>
                    <a:p>
                      <a:pPr algn="l"/>
                      <a:r>
                        <a:rPr sz="1600" b="0" dirty="0">
                          <a:solidFill>
                            <a:srgbClr val="1F1F1F"/>
                          </a:solidFill>
                          <a:latin typeface="Segoe UI"/>
                        </a:rPr>
                        <a:t>“See when something breaks”</a:t>
                      </a:r>
                    </a:p>
                  </a:txBody>
                  <a:tcPr marT="54864" marB="54864" anchor="ctr">
                    <a:solidFill>
                      <a:srgbClr val="FFFFFF"/>
                    </a:solidFill>
                  </a:tcPr>
                </a:tc>
                <a:tc>
                  <a:txBody>
                    <a:bodyPr/>
                    <a:lstStyle/>
                    <a:p>
                      <a:pPr algn="l"/>
                      <a:r>
                        <a:rPr sz="1600" b="0" dirty="0">
                          <a:solidFill>
                            <a:srgbClr val="1F1F1F"/>
                          </a:solidFill>
                          <a:latin typeface="Segoe UI"/>
                        </a:rPr>
                        <a:t>Critical services instrumented to a common standard; baseline measures established</a:t>
                      </a:r>
                    </a:p>
                  </a:txBody>
                  <a:tcPr marT="54864" marB="54864" anchor="ctr">
                    <a:solidFill>
                      <a:srgbClr val="FFFFFF"/>
                    </a:solidFill>
                  </a:tcPr>
                </a:tc>
                <a:extLst>
                  <a:ext uri="{0D108BD9-81ED-4DB2-BD59-A6C34878D82A}">
                    <a16:rowId xmlns:a16="http://schemas.microsoft.com/office/drawing/2014/main" val="10001"/>
                  </a:ext>
                </a:extLst>
              </a:tr>
              <a:tr h="822960">
                <a:tc>
                  <a:txBody>
                    <a:bodyPr/>
                    <a:lstStyle/>
                    <a:p>
                      <a:pPr algn="l"/>
                      <a:r>
                        <a:rPr sz="1600" b="1">
                          <a:solidFill>
                            <a:srgbClr val="0B3D91"/>
                          </a:solidFill>
                          <a:latin typeface="Segoe UI"/>
                        </a:rPr>
                        <a:t>Phase 2 — Correlation</a:t>
                      </a:r>
                    </a:p>
                  </a:txBody>
                  <a:tcPr marT="54864" marB="54864" anchor="ctr">
                    <a:solidFill>
                      <a:srgbClr val="EEF1F7"/>
                    </a:solidFill>
                  </a:tcPr>
                </a:tc>
                <a:tc>
                  <a:txBody>
                    <a:bodyPr/>
                    <a:lstStyle/>
                    <a:p>
                      <a:pPr algn="l"/>
                      <a:r>
                        <a:rPr sz="1600" b="0" dirty="0">
                          <a:solidFill>
                            <a:srgbClr val="1F1F1F"/>
                          </a:solidFill>
                          <a:latin typeface="Segoe UI"/>
                        </a:rPr>
                        <a:t>“Understand why it broke”</a:t>
                      </a:r>
                    </a:p>
                  </a:txBody>
                  <a:tcPr marT="54864" marB="54864" anchor="ctr">
                    <a:solidFill>
                      <a:srgbClr val="EEF1F7"/>
                    </a:solidFill>
                  </a:tcPr>
                </a:tc>
                <a:tc>
                  <a:txBody>
                    <a:bodyPr/>
                    <a:lstStyle/>
                    <a:p>
                      <a:pPr algn="l"/>
                      <a:r>
                        <a:rPr sz="1600" b="0" dirty="0">
                          <a:solidFill>
                            <a:srgbClr val="1F1F1F"/>
                          </a:solidFill>
                          <a:latin typeface="Segoe UI"/>
                        </a:rPr>
                        <a:t>Logs, metrics, and traces correlated; alerts that are actionable rather than noisy</a:t>
                      </a:r>
                    </a:p>
                  </a:txBody>
                  <a:tcPr marT="54864" marB="54864" anchor="ctr">
                    <a:solidFill>
                      <a:srgbClr val="EEF1F7"/>
                    </a:solidFill>
                  </a:tcPr>
                </a:tc>
                <a:extLst>
                  <a:ext uri="{0D108BD9-81ED-4DB2-BD59-A6C34878D82A}">
                    <a16:rowId xmlns:a16="http://schemas.microsoft.com/office/drawing/2014/main" val="10002"/>
                  </a:ext>
                </a:extLst>
              </a:tr>
              <a:tr h="822960">
                <a:tc>
                  <a:txBody>
                    <a:bodyPr/>
                    <a:lstStyle/>
                    <a:p>
                      <a:pPr algn="l"/>
                      <a:r>
                        <a:rPr sz="1600" b="1">
                          <a:solidFill>
                            <a:srgbClr val="0B3D91"/>
                          </a:solidFill>
                          <a:latin typeface="Segoe UI"/>
                        </a:rPr>
                        <a:t>Phase 3 — Intelligence</a:t>
                      </a:r>
                    </a:p>
                  </a:txBody>
                  <a:tcPr marT="54864" marB="54864" anchor="ctr">
                    <a:solidFill>
                      <a:srgbClr val="FFFFFF"/>
                    </a:solidFill>
                  </a:tcPr>
                </a:tc>
                <a:tc>
                  <a:txBody>
                    <a:bodyPr/>
                    <a:lstStyle/>
                    <a:p>
                      <a:pPr algn="l"/>
                      <a:r>
                        <a:rPr sz="1600" b="0">
                          <a:solidFill>
                            <a:srgbClr val="1F1F1F"/>
                          </a:solidFill>
                          <a:latin typeface="Segoe UI"/>
                        </a:rPr>
                        <a:t>“Fix it before users notice”</a:t>
                      </a:r>
                    </a:p>
                  </a:txBody>
                  <a:tcPr marT="54864" marB="54864" anchor="ctr">
                    <a:solidFill>
                      <a:srgbClr val="FFFFFF"/>
                    </a:solidFill>
                  </a:tcPr>
                </a:tc>
                <a:tc>
                  <a:txBody>
                    <a:bodyPr/>
                    <a:lstStyle/>
                    <a:p>
                      <a:pPr algn="l"/>
                      <a:r>
                        <a:rPr sz="1600" b="0" dirty="0">
                          <a:solidFill>
                            <a:srgbClr val="1F1F1F"/>
                          </a:solidFill>
                          <a:latin typeface="Segoe UI"/>
                        </a:rPr>
                        <a:t>AI-assisted anomaly detection, automated root-cause analysis, predictive alerting</a:t>
                      </a:r>
                    </a:p>
                  </a:txBody>
                  <a:tcPr marT="54864" marB="54864" anchor="ctr">
                    <a:solidFill>
                      <a:srgbClr val="FFFFFF"/>
                    </a:solidFill>
                  </a:tcPr>
                </a:tc>
                <a:extLst>
                  <a:ext uri="{0D108BD9-81ED-4DB2-BD59-A6C34878D82A}">
                    <a16:rowId xmlns:a16="http://schemas.microsoft.com/office/drawing/2014/main" val="10003"/>
                  </a:ext>
                </a:extLst>
              </a:tr>
            </a:tbl>
          </a:graphicData>
        </a:graphic>
      </p:graphicFrame>
      <p:sp>
        <p:nvSpPr>
          <p:cNvPr id="7" name="Rectangle 6"/>
          <p:cNvSpPr/>
          <p:nvPr/>
        </p:nvSpPr>
        <p:spPr>
          <a:xfrm>
            <a:off x="457200" y="5349240"/>
            <a:ext cx="11247120" cy="914400"/>
          </a:xfrm>
          <a:prstGeom prst="rect">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5349240"/>
            <a:ext cx="109728" cy="914400"/>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5564612"/>
            <a:ext cx="10789920" cy="529376"/>
          </a:xfrm>
          <a:prstGeom prst="rect">
            <a:avLst/>
          </a:prstGeom>
          <a:noFill/>
        </p:spPr>
        <p:txBody>
          <a:bodyPr wrap="square" lIns="45720" tIns="18288" rIns="45720" bIns="18288" anchor="ctr">
            <a:spAutoFit/>
          </a:bodyPr>
          <a:lstStyle/>
          <a:p>
            <a:pPr algn="l"/>
            <a:r>
              <a:rPr sz="1600" b="0" dirty="0">
                <a:solidFill>
                  <a:srgbClr val="1F1F1F"/>
                </a:solidFill>
                <a:latin typeface="Segoe UI"/>
              </a:rPr>
              <a:t>Each phase is gated by sustained outcomes — not by activity completed — and requires explicit governance sign-off before the next phase begins.</a:t>
            </a:r>
          </a:p>
        </p:txBody>
      </p:sp>
      <p:sp>
        <p:nvSpPr>
          <p:cNvPr id="10" name="Rectangle 9"/>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12" name="TextBox 11"/>
          <p:cNvSpPr txBox="1"/>
          <p:nvPr/>
        </p:nvSpPr>
        <p:spPr>
          <a:xfrm>
            <a:off x="10515600" y="6446520"/>
            <a:ext cx="1188720" cy="228600"/>
          </a:xfrm>
          <a:prstGeom prst="rect">
            <a:avLst/>
          </a:prstGeom>
          <a:noFill/>
        </p:spPr>
        <p:txBody>
          <a:bodyPr wrap="square" lIns="45720" tIns="18288" rIns="45720" bIns="18288" anchor="t">
            <a:spAutoFit/>
          </a:bodyPr>
          <a:lstStyle/>
          <a:p>
            <a:pPr algn="r"/>
            <a:fld id="{11111111-1111-1111-1111-111111111111}" type="slidenum">
              <a:rPr sz="1000" b="0">
                <a:solidFill>
                  <a:srgbClr val="555555"/>
                </a:solidFill>
                <a:latin typeface="Segoe UI"/>
              </a:rPr>
              <a:t>6</a:t>
            </a:fld>
            <a:endParaRPr sz="1000" b="0">
              <a:solidFill>
                <a:srgbClr val="555555"/>
              </a:solidFill>
              <a:latin typeface="Segoe U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dirty="0">
                <a:solidFill>
                  <a:srgbClr val="0B3D91"/>
                </a:solidFill>
                <a:latin typeface="Segoe UI"/>
              </a:rPr>
              <a:t>Governance &amp; Accountability</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91640"/>
            <a:ext cx="11247120" cy="2648482"/>
          </a:xfrm>
          <a:prstGeom prst="rect">
            <a:avLst/>
          </a:prstGeom>
          <a:noFill/>
        </p:spPr>
        <p:txBody>
          <a:bodyPr wrap="square" lIns="45720" rIns="45720">
            <a:spAutoFit/>
          </a:bodyPr>
          <a:lstStyle/>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Architecture Review Board</a:t>
            </a:r>
            <a:r>
              <a:rPr sz="1800" b="0" dirty="0">
                <a:solidFill>
                  <a:srgbClr val="1F1F1F"/>
                </a:solidFill>
                <a:latin typeface="Segoe UI"/>
              </a:rPr>
              <a:t> — ratifies standards, reviews phase gates, approves material decisions.</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Service Design Group</a:t>
            </a:r>
            <a:r>
              <a:rPr sz="1800" b="0" dirty="0">
                <a:solidFill>
                  <a:srgbClr val="1F1F1F"/>
                </a:solidFill>
                <a:latin typeface="Segoe UI"/>
              </a:rPr>
              <a:t> — ensures every new service onboards to the standard, with no quiet exceptions.</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Exception Panel</a:t>
            </a:r>
            <a:r>
              <a:rPr sz="1800" b="0" dirty="0">
                <a:solidFill>
                  <a:srgbClr val="1F1F1F"/>
                </a:solidFill>
                <a:latin typeface="Segoe UI"/>
              </a:rPr>
              <a:t> — every deviation from standard is approved, time-boxed, and visible.</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Change Board</a:t>
            </a:r>
            <a:r>
              <a:rPr sz="1800" b="0" dirty="0">
                <a:solidFill>
                  <a:srgbClr val="1F1F1F"/>
                </a:solidFill>
                <a:latin typeface="Segoe UI"/>
              </a:rPr>
              <a:t> — controls production rollouts and holds rollback authority.</a:t>
            </a:r>
          </a:p>
          <a:p>
            <a:pPr marL="285750" indent="-285750" algn="l">
              <a:lnSpc>
                <a:spcPct val="125000"/>
              </a:lnSpc>
              <a:spcAft>
                <a:spcPts val="1000"/>
              </a:spcAft>
              <a:buFont typeface="Arial" panose="020B0604020202020204" pitchFamily="34" charset="0"/>
              <a:buChar char="•"/>
            </a:pPr>
            <a:r>
              <a:rPr sz="1800" b="0" dirty="0">
                <a:solidFill>
                  <a:srgbClr val="1F1F1F"/>
                </a:solidFill>
                <a:latin typeface="Segoe UI"/>
              </a:rPr>
              <a:t>All material decisions are captured as </a:t>
            </a:r>
            <a:r>
              <a:rPr sz="1800" b="1" dirty="0">
                <a:solidFill>
                  <a:srgbClr val="1F1F1F"/>
                </a:solidFill>
                <a:latin typeface="Segoe UI"/>
              </a:rPr>
              <a:t>Architectural Decision Records</a:t>
            </a:r>
            <a:r>
              <a:rPr sz="1800" b="0" dirty="0">
                <a:solidFill>
                  <a:srgbClr val="1F1F1F"/>
                </a:solidFill>
                <a:latin typeface="Segoe UI"/>
              </a:rPr>
              <a:t> — versioned, auditable, defensible to regulators and to the board itself.</a:t>
            </a:r>
          </a:p>
        </p:txBody>
      </p:sp>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fld id="{11111111-1111-1111-1111-111111111111}" type="slidenum">
              <a:rPr sz="1000" b="0">
                <a:solidFill>
                  <a:srgbClr val="555555"/>
                </a:solidFill>
                <a:latin typeface="Segoe UI"/>
              </a:rPr>
              <a:t>7</a:t>
            </a:fld>
            <a:endParaRPr sz="1000" b="0">
              <a:solidFill>
                <a:srgbClr val="555555"/>
              </a:solidFill>
              <a:latin typeface="Segoe U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Compliance &amp; Risk Mitigation</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91640"/>
            <a:ext cx="11247120" cy="816570"/>
          </a:xfrm>
          <a:prstGeom prst="rect">
            <a:avLst/>
          </a:prstGeom>
          <a:noFill/>
        </p:spPr>
        <p:txBody>
          <a:bodyPr wrap="square" lIns="45720" rIns="45720">
            <a:spAutoFit/>
          </a:bodyPr>
          <a:lstStyle/>
          <a:p>
            <a:pPr marL="285750" indent="-285750" algn="l">
              <a:lnSpc>
                <a:spcPct val="125000"/>
              </a:lnSpc>
              <a:spcAft>
                <a:spcPts val="800"/>
              </a:spcAft>
              <a:buFont typeface="Arial" panose="020B0604020202020204" pitchFamily="34" charset="0"/>
              <a:buChar char="•"/>
            </a:pPr>
            <a:r>
              <a:rPr sz="1700" b="1" dirty="0">
                <a:solidFill>
                  <a:srgbClr val="1F1F1F"/>
                </a:solidFill>
                <a:latin typeface="Segoe UI"/>
              </a:rPr>
              <a:t>In-scope frameworks</a:t>
            </a:r>
            <a:r>
              <a:rPr sz="1700" b="0" dirty="0">
                <a:solidFill>
                  <a:srgbClr val="1F1F1F"/>
                </a:solidFill>
                <a:latin typeface="Segoe UI"/>
              </a:rPr>
              <a:t>  —  SOC 2 Type II  ·  ISO 27001  ·  GDPR</a:t>
            </a:r>
          </a:p>
          <a:p>
            <a:pPr marL="285750" indent="-285750" algn="l">
              <a:lnSpc>
                <a:spcPct val="125000"/>
              </a:lnSpc>
              <a:spcAft>
                <a:spcPts val="800"/>
              </a:spcAft>
              <a:buFont typeface="Arial" panose="020B0604020202020204" pitchFamily="34" charset="0"/>
              <a:buChar char="•"/>
            </a:pPr>
            <a:r>
              <a:rPr sz="1700" b="1" dirty="0">
                <a:solidFill>
                  <a:srgbClr val="1F1F1F"/>
                </a:solidFill>
                <a:latin typeface="Segoe UI"/>
              </a:rPr>
              <a:t>On the watch-list</a:t>
            </a:r>
            <a:r>
              <a:rPr sz="1700" b="0" dirty="0">
                <a:solidFill>
                  <a:srgbClr val="1F1F1F"/>
                </a:solidFill>
                <a:latin typeface="Segoe UI"/>
              </a:rPr>
              <a:t>  —  PCI DSS  ·  DORA  ·  NIS2 (anticipated obligations as our European footprint grows)</a:t>
            </a:r>
          </a:p>
        </p:txBody>
      </p:sp>
      <p:sp>
        <p:nvSpPr>
          <p:cNvPr id="7" name="TextBox 6"/>
          <p:cNvSpPr txBox="1"/>
          <p:nvPr/>
        </p:nvSpPr>
        <p:spPr>
          <a:xfrm>
            <a:off x="457200" y="3246120"/>
            <a:ext cx="11247120" cy="365760"/>
          </a:xfrm>
          <a:prstGeom prst="rect">
            <a:avLst/>
          </a:prstGeom>
          <a:noFill/>
        </p:spPr>
        <p:txBody>
          <a:bodyPr wrap="square" lIns="45720" tIns="18288" rIns="45720" bIns="18288" anchor="t">
            <a:spAutoFit/>
          </a:bodyPr>
          <a:lstStyle/>
          <a:p>
            <a:pPr algn="l"/>
            <a:r>
              <a:rPr sz="1800" b="1">
                <a:solidFill>
                  <a:srgbClr val="0B3D91"/>
                </a:solidFill>
                <a:latin typeface="Segoe UI"/>
              </a:rPr>
              <a:t>Built-in controls</a:t>
            </a:r>
          </a:p>
        </p:txBody>
      </p:sp>
      <p:sp>
        <p:nvSpPr>
          <p:cNvPr id="8" name="TextBox 7"/>
          <p:cNvSpPr txBox="1"/>
          <p:nvPr/>
        </p:nvSpPr>
        <p:spPr>
          <a:xfrm>
            <a:off x="457200" y="3657600"/>
            <a:ext cx="11247120" cy="1477649"/>
          </a:xfrm>
          <a:prstGeom prst="rect">
            <a:avLst/>
          </a:prstGeom>
          <a:noFill/>
        </p:spPr>
        <p:txBody>
          <a:bodyPr wrap="square" lIns="45720" rIns="45720">
            <a:spAutoFit/>
          </a:bodyPr>
          <a:lstStyle/>
          <a:p>
            <a:pPr marL="285750" indent="-285750" algn="l">
              <a:lnSpc>
                <a:spcPct val="120000"/>
              </a:lnSpc>
              <a:spcAft>
                <a:spcPts val="600"/>
              </a:spcAft>
              <a:buFont typeface="Arial" panose="020B0604020202020204" pitchFamily="34" charset="0"/>
              <a:buChar char="•"/>
            </a:pPr>
            <a:r>
              <a:rPr sz="1600" b="0" dirty="0">
                <a:solidFill>
                  <a:srgbClr val="1F1F1F"/>
                </a:solidFill>
                <a:latin typeface="Segoe UI"/>
              </a:rPr>
              <a:t>Personally identifiable information </a:t>
            </a:r>
            <a:r>
              <a:rPr sz="1600" b="1" dirty="0">
                <a:solidFill>
                  <a:srgbClr val="1F1F1F"/>
                </a:solidFill>
                <a:latin typeface="Segoe UI"/>
              </a:rPr>
              <a:t>redacted at the source</a:t>
            </a:r>
            <a:r>
              <a:rPr sz="1600" b="0" dirty="0">
                <a:solidFill>
                  <a:srgbClr val="1F1F1F"/>
                </a:solidFill>
                <a:latin typeface="Segoe UI"/>
              </a:rPr>
              <a:t>, never landing in our backends</a:t>
            </a:r>
          </a:p>
          <a:p>
            <a:pPr marL="285750" indent="-285750" algn="l">
              <a:lnSpc>
                <a:spcPct val="120000"/>
              </a:lnSpc>
              <a:spcAft>
                <a:spcPts val="600"/>
              </a:spcAft>
              <a:buFont typeface="Arial" panose="020B0604020202020204" pitchFamily="34" charset="0"/>
              <a:buChar char="•"/>
            </a:pPr>
            <a:r>
              <a:rPr sz="1600" dirty="0">
                <a:solidFill>
                  <a:srgbClr val="1F1F1F"/>
                </a:solidFill>
                <a:latin typeface="Segoe UI"/>
              </a:rPr>
              <a:t>Tiered data retention aligned to regulatory and business needs</a:t>
            </a:r>
          </a:p>
          <a:p>
            <a:pPr marL="285750" indent="-285750" algn="l">
              <a:lnSpc>
                <a:spcPct val="120000"/>
              </a:lnSpc>
              <a:spcAft>
                <a:spcPts val="600"/>
              </a:spcAft>
              <a:buFont typeface="Arial" panose="020B0604020202020204" pitchFamily="34" charset="0"/>
              <a:buChar char="•"/>
            </a:pPr>
            <a:r>
              <a:rPr sz="1600" dirty="0">
                <a:solidFill>
                  <a:srgbClr val="1F1F1F"/>
                </a:solidFill>
                <a:latin typeface="Segoe UI"/>
              </a:rPr>
              <a:t>Role-based access enforced uniformly across the platform</a:t>
            </a:r>
          </a:p>
          <a:p>
            <a:pPr marL="285750" indent="-285750" algn="l">
              <a:lnSpc>
                <a:spcPct val="120000"/>
              </a:lnSpc>
              <a:spcAft>
                <a:spcPts val="600"/>
              </a:spcAft>
              <a:buFont typeface="Arial" panose="020B0604020202020204" pitchFamily="34" charset="0"/>
              <a:buChar char="•"/>
            </a:pPr>
            <a:r>
              <a:rPr sz="1600" b="0" dirty="0">
                <a:solidFill>
                  <a:srgbClr val="1F1F1F"/>
                </a:solidFill>
                <a:latin typeface="Segoe UI"/>
              </a:rPr>
              <a:t>Continuous evidence collection — </a:t>
            </a:r>
            <a:r>
              <a:rPr sz="1600" b="1" dirty="0">
                <a:solidFill>
                  <a:srgbClr val="1F1F1F"/>
                </a:solidFill>
                <a:latin typeface="Segoe UI"/>
              </a:rPr>
              <a:t>audit-ready by design</a:t>
            </a:r>
          </a:p>
        </p:txBody>
      </p:sp>
      <p:sp>
        <p:nvSpPr>
          <p:cNvPr id="9" name="Rectangle 8"/>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11" name="TextBox 10"/>
          <p:cNvSpPr txBox="1"/>
          <p:nvPr/>
        </p:nvSpPr>
        <p:spPr>
          <a:xfrm>
            <a:off x="10515600" y="6446520"/>
            <a:ext cx="1188720" cy="228600"/>
          </a:xfrm>
          <a:prstGeom prst="rect">
            <a:avLst/>
          </a:prstGeom>
          <a:noFill/>
        </p:spPr>
        <p:txBody>
          <a:bodyPr wrap="square" lIns="45720" tIns="18288" rIns="45720" bIns="18288" anchor="t">
            <a:spAutoFit/>
          </a:bodyPr>
          <a:lstStyle/>
          <a:p>
            <a:pPr algn="r"/>
            <a:fld id="{11111111-1111-1111-1111-111111111111}" type="slidenum">
              <a:rPr sz="1000" b="0">
                <a:solidFill>
                  <a:srgbClr val="555555"/>
                </a:solidFill>
                <a:latin typeface="Segoe UI"/>
              </a:rPr>
              <a:t>8</a:t>
            </a:fld>
            <a:endParaRPr sz="1000" b="0">
              <a:solidFill>
                <a:srgbClr val="555555"/>
              </a:solidFill>
              <a:latin typeface="Segoe UI"/>
            </a:endParaRPr>
          </a:p>
        </p:txBody>
      </p:sp>
      <p:sp>
        <p:nvSpPr>
          <p:cNvPr id="12" name="Rectangle 11">
            <a:extLst>
              <a:ext uri="{FF2B5EF4-FFF2-40B4-BE49-F238E27FC236}">
                <a16:creationId xmlns:a16="http://schemas.microsoft.com/office/drawing/2014/main" id="{92DFF6F6-1EC6-5702-EDC9-1D5187E50408}"/>
              </a:ext>
            </a:extLst>
          </p:cNvPr>
          <p:cNvSpPr/>
          <p:nvPr/>
        </p:nvSpPr>
        <p:spPr>
          <a:xfrm>
            <a:off x="6313714" y="526697"/>
            <a:ext cx="3407229" cy="1824617"/>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Appendix</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Key Risks &amp; Mitigations</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2953040983"/>
              </p:ext>
            </p:extLst>
          </p:nvPr>
        </p:nvGraphicFramePr>
        <p:xfrm>
          <a:off x="457200" y="1737360"/>
          <a:ext cx="11247120" cy="4389120"/>
        </p:xfrm>
        <a:graphic>
          <a:graphicData uri="http://schemas.openxmlformats.org/drawingml/2006/table">
            <a:tbl>
              <a:tblPr firstRow="1" bandRow="1">
                <a:tableStyleId>{5C22544A-7EE6-4342-B048-85BDC9FD1C3A}</a:tableStyleId>
              </a:tblPr>
              <a:tblGrid>
                <a:gridCol w="5029200">
                  <a:extLst>
                    <a:ext uri="{9D8B030D-6E8A-4147-A177-3AD203B41FA5}">
                      <a16:colId xmlns:a16="http://schemas.microsoft.com/office/drawing/2014/main" val="20000"/>
                    </a:ext>
                  </a:extLst>
                </a:gridCol>
                <a:gridCol w="6217920">
                  <a:extLst>
                    <a:ext uri="{9D8B030D-6E8A-4147-A177-3AD203B41FA5}">
                      <a16:colId xmlns:a16="http://schemas.microsoft.com/office/drawing/2014/main" val="20001"/>
                    </a:ext>
                  </a:extLst>
                </a:gridCol>
              </a:tblGrid>
              <a:tr h="731520">
                <a:tc>
                  <a:txBody>
                    <a:bodyPr/>
                    <a:lstStyle/>
                    <a:p>
                      <a:pPr algn="l"/>
                      <a:r>
                        <a:rPr sz="1800" b="1" dirty="0">
                          <a:solidFill>
                            <a:srgbClr val="FFFFFF"/>
                          </a:solidFill>
                          <a:latin typeface="Segoe UI"/>
                        </a:rPr>
                        <a:t>Risk</a:t>
                      </a:r>
                    </a:p>
                  </a:txBody>
                  <a:tcPr marT="54864" marB="54864" anchor="ctr">
                    <a:solidFill>
                      <a:srgbClr val="0B3D91"/>
                    </a:solidFill>
                  </a:tcPr>
                </a:tc>
                <a:tc>
                  <a:txBody>
                    <a:bodyPr/>
                    <a:lstStyle/>
                    <a:p>
                      <a:pPr algn="l"/>
                      <a:r>
                        <a:rPr sz="1800" b="1" dirty="0">
                          <a:solidFill>
                            <a:srgbClr val="FFFFFF"/>
                          </a:solidFill>
                          <a:latin typeface="Segoe UI"/>
                        </a:rPr>
                        <a:t>Mitigation</a:t>
                      </a:r>
                    </a:p>
                  </a:txBody>
                  <a:tcPr marT="54864" marB="54864" anchor="ctr">
                    <a:solidFill>
                      <a:srgbClr val="0B3D91"/>
                    </a:solidFill>
                  </a:tcPr>
                </a:tc>
                <a:extLst>
                  <a:ext uri="{0D108BD9-81ED-4DB2-BD59-A6C34878D82A}">
                    <a16:rowId xmlns:a16="http://schemas.microsoft.com/office/drawing/2014/main" val="10000"/>
                  </a:ext>
                </a:extLst>
              </a:tr>
              <a:tr h="731520">
                <a:tc>
                  <a:txBody>
                    <a:bodyPr/>
                    <a:lstStyle/>
                    <a:p>
                      <a:pPr algn="l"/>
                      <a:r>
                        <a:rPr sz="1600" b="1">
                          <a:solidFill>
                            <a:srgbClr val="0B3D91"/>
                          </a:solidFill>
                          <a:latin typeface="Segoe UI"/>
                        </a:rPr>
                        <a:t>Tool consolidation surfaces migration debt</a:t>
                      </a:r>
                    </a:p>
                  </a:txBody>
                  <a:tcPr marT="54864" marB="54864" anchor="ctr">
                    <a:solidFill>
                      <a:srgbClr val="FFFFFF"/>
                    </a:solidFill>
                  </a:tcPr>
                </a:tc>
                <a:tc>
                  <a:txBody>
                    <a:bodyPr/>
                    <a:lstStyle/>
                    <a:p>
                      <a:pPr algn="l"/>
                      <a:r>
                        <a:rPr sz="1600" b="0">
                          <a:solidFill>
                            <a:srgbClr val="1F1F1F"/>
                          </a:solidFill>
                          <a:latin typeface="Segoe UI"/>
                        </a:rPr>
                        <a:t>Phased decommissioning with parallel running; no big-bang cut-overs</a:t>
                      </a:r>
                    </a:p>
                  </a:txBody>
                  <a:tcPr marT="54864" marB="54864" anchor="ctr">
                    <a:solidFill>
                      <a:srgbClr val="FFFFFF"/>
                    </a:solidFill>
                  </a:tcPr>
                </a:tc>
                <a:extLst>
                  <a:ext uri="{0D108BD9-81ED-4DB2-BD59-A6C34878D82A}">
                    <a16:rowId xmlns:a16="http://schemas.microsoft.com/office/drawing/2014/main" val="10001"/>
                  </a:ext>
                </a:extLst>
              </a:tr>
              <a:tr h="731520">
                <a:tc>
                  <a:txBody>
                    <a:bodyPr/>
                    <a:lstStyle/>
                    <a:p>
                      <a:pPr algn="l"/>
                      <a:r>
                        <a:rPr sz="1600" b="1" dirty="0">
                          <a:solidFill>
                            <a:srgbClr val="0B3D91"/>
                          </a:solidFill>
                          <a:latin typeface="Segoe UI"/>
                        </a:rPr>
                        <a:t>AI-driven detection produces false positives during ramp-up</a:t>
                      </a:r>
                    </a:p>
                  </a:txBody>
                  <a:tcPr marT="54864" marB="54864" anchor="ctr">
                    <a:solidFill>
                      <a:srgbClr val="EEF1F7"/>
                    </a:solidFill>
                  </a:tcPr>
                </a:tc>
                <a:tc>
                  <a:txBody>
                    <a:bodyPr/>
                    <a:lstStyle/>
                    <a:p>
                      <a:pPr algn="l"/>
                      <a:r>
                        <a:rPr sz="1600" b="0">
                          <a:solidFill>
                            <a:srgbClr val="1F1F1F"/>
                          </a:solidFill>
                          <a:latin typeface="Segoe UI"/>
                        </a:rPr>
                        <a:t>Human-in-the-loop guardrails before full automation in later phases</a:t>
                      </a:r>
                    </a:p>
                  </a:txBody>
                  <a:tcPr marT="54864" marB="54864" anchor="ctr">
                    <a:solidFill>
                      <a:srgbClr val="EEF1F7"/>
                    </a:solidFill>
                  </a:tcPr>
                </a:tc>
                <a:extLst>
                  <a:ext uri="{0D108BD9-81ED-4DB2-BD59-A6C34878D82A}">
                    <a16:rowId xmlns:a16="http://schemas.microsoft.com/office/drawing/2014/main" val="10002"/>
                  </a:ext>
                </a:extLst>
              </a:tr>
              <a:tr h="731520">
                <a:tc>
                  <a:txBody>
                    <a:bodyPr/>
                    <a:lstStyle/>
                    <a:p>
                      <a:pPr algn="l"/>
                      <a:r>
                        <a:rPr sz="1600" b="1" dirty="0">
                          <a:solidFill>
                            <a:srgbClr val="0B3D91"/>
                          </a:solidFill>
                          <a:latin typeface="Segoe UI"/>
                        </a:rPr>
                        <a:t>Telemetry cost overruns as adoption scales</a:t>
                      </a:r>
                    </a:p>
                  </a:txBody>
                  <a:tcPr marT="54864" marB="54864" anchor="ctr">
                    <a:solidFill>
                      <a:srgbClr val="FFFFFF"/>
                    </a:solidFill>
                  </a:tcPr>
                </a:tc>
                <a:tc>
                  <a:txBody>
                    <a:bodyPr/>
                    <a:lstStyle/>
                    <a:p>
                      <a:pPr algn="l"/>
                      <a:r>
                        <a:rPr sz="1600" b="0">
                          <a:solidFill>
                            <a:srgbClr val="1F1F1F"/>
                          </a:solidFill>
                          <a:latin typeface="Segoe UI"/>
                        </a:rPr>
                        <a:t>FinOps budgets per service tier with automated variance alerts</a:t>
                      </a:r>
                    </a:p>
                  </a:txBody>
                  <a:tcPr marT="54864" marB="54864" anchor="ctr">
                    <a:solidFill>
                      <a:srgbClr val="FFFFFF"/>
                    </a:solidFill>
                  </a:tcPr>
                </a:tc>
                <a:extLst>
                  <a:ext uri="{0D108BD9-81ED-4DB2-BD59-A6C34878D82A}">
                    <a16:rowId xmlns:a16="http://schemas.microsoft.com/office/drawing/2014/main" val="10003"/>
                  </a:ext>
                </a:extLst>
              </a:tr>
              <a:tr h="731520">
                <a:tc>
                  <a:txBody>
                    <a:bodyPr/>
                    <a:lstStyle/>
                    <a:p>
                      <a:pPr algn="l"/>
                      <a:r>
                        <a:rPr sz="1600" b="1" dirty="0">
                          <a:solidFill>
                            <a:srgbClr val="0B3D91"/>
                          </a:solidFill>
                          <a:latin typeface="Segoe UI"/>
                        </a:rPr>
                        <a:t>Standards drift as the platform matures</a:t>
                      </a:r>
                    </a:p>
                  </a:txBody>
                  <a:tcPr marT="54864" marB="54864" anchor="ctr">
                    <a:solidFill>
                      <a:srgbClr val="EEF1F7"/>
                    </a:solidFill>
                  </a:tcPr>
                </a:tc>
                <a:tc>
                  <a:txBody>
                    <a:bodyPr/>
                    <a:lstStyle/>
                    <a:p>
                      <a:pPr algn="l"/>
                      <a:r>
                        <a:rPr sz="1600" b="0">
                          <a:solidFill>
                            <a:srgbClr val="1F1F1F"/>
                          </a:solidFill>
                          <a:latin typeface="Segoe UI"/>
                        </a:rPr>
                        <a:t>Architecture Review Board enforcement and decision-record audit trail</a:t>
                      </a:r>
                    </a:p>
                  </a:txBody>
                  <a:tcPr marT="54864" marB="54864" anchor="ctr">
                    <a:solidFill>
                      <a:srgbClr val="EEF1F7"/>
                    </a:solidFill>
                  </a:tcPr>
                </a:tc>
                <a:extLst>
                  <a:ext uri="{0D108BD9-81ED-4DB2-BD59-A6C34878D82A}">
                    <a16:rowId xmlns:a16="http://schemas.microsoft.com/office/drawing/2014/main" val="10004"/>
                  </a:ext>
                </a:extLst>
              </a:tr>
              <a:tr h="731520">
                <a:tc>
                  <a:txBody>
                    <a:bodyPr/>
                    <a:lstStyle/>
                    <a:p>
                      <a:pPr algn="l"/>
                      <a:r>
                        <a:rPr sz="1600" b="1">
                          <a:solidFill>
                            <a:srgbClr val="0B3D91"/>
                          </a:solidFill>
                          <a:latin typeface="Segoe UI"/>
                        </a:rPr>
                        <a:t>Adoption fatigue across engineering teams</a:t>
                      </a:r>
                    </a:p>
                  </a:txBody>
                  <a:tcPr marT="54864" marB="54864" anchor="ctr">
                    <a:solidFill>
                      <a:srgbClr val="FFFFFF"/>
                    </a:solidFill>
                  </a:tcPr>
                </a:tc>
                <a:tc>
                  <a:txBody>
                    <a:bodyPr/>
                    <a:lstStyle/>
                    <a:p>
                      <a:pPr algn="l"/>
                      <a:r>
                        <a:rPr sz="1600" b="0" dirty="0">
                          <a:solidFill>
                            <a:srgbClr val="1F1F1F"/>
                          </a:solidFill>
                          <a:latin typeface="Segoe UI"/>
                        </a:rPr>
                        <a:t>Pull-based Community of Practice model; champions per service</a:t>
                      </a:r>
                    </a:p>
                  </a:txBody>
                  <a:tcPr marT="54864" marB="54864"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fld id="{11111111-1111-1111-1111-111111111111}" type="slidenum">
              <a:rPr sz="1000" b="0">
                <a:solidFill>
                  <a:srgbClr val="555555"/>
                </a:solidFill>
                <a:latin typeface="Segoe UI"/>
              </a:rPr>
              <a:t>9</a:t>
            </a:fld>
            <a:endParaRPr sz="1000" b="0">
              <a:solidFill>
                <a:srgbClr val="555555"/>
              </a:solidFill>
              <a:latin typeface="Segoe UI"/>
            </a:endParaRPr>
          </a:p>
        </p:txBody>
      </p:sp>
      <p:sp>
        <p:nvSpPr>
          <p:cNvPr id="11" name="Rectangle 10">
            <a:extLst>
              <a:ext uri="{FF2B5EF4-FFF2-40B4-BE49-F238E27FC236}">
                <a16:creationId xmlns:a16="http://schemas.microsoft.com/office/drawing/2014/main" id="{FCD0AE70-5F5D-5153-3702-B6AB5805F571}"/>
              </a:ext>
            </a:extLst>
          </p:cNvPr>
          <p:cNvSpPr/>
          <p:nvPr/>
        </p:nvSpPr>
        <p:spPr>
          <a:xfrm>
            <a:off x="6313714" y="526697"/>
            <a:ext cx="3407229" cy="1824617"/>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Appendix</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Call to Action — Decisions Requested Today</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02920" y="1905381"/>
            <a:ext cx="384048" cy="384048"/>
          </a:xfrm>
          <a:prstGeom prst="ellipse">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Segoe UI"/>
              </a:rPr>
              <a:t>1</a:t>
            </a:r>
          </a:p>
        </p:txBody>
      </p:sp>
      <p:sp>
        <p:nvSpPr>
          <p:cNvPr id="8" name="TextBox 7"/>
          <p:cNvSpPr txBox="1"/>
          <p:nvPr/>
        </p:nvSpPr>
        <p:spPr>
          <a:xfrm>
            <a:off x="1051560" y="1868805"/>
            <a:ext cx="10607040" cy="457200"/>
          </a:xfrm>
          <a:prstGeom prst="rect">
            <a:avLst/>
          </a:prstGeom>
          <a:noFill/>
        </p:spPr>
        <p:txBody>
          <a:bodyPr wrap="square" tIns="18288" bIns="18288" anchor="ctr">
            <a:spAutoFit/>
          </a:bodyPr>
          <a:lstStyle/>
          <a:p>
            <a:pPr algn="l"/>
            <a:r>
              <a:rPr sz="1700" b="1" dirty="0">
                <a:solidFill>
                  <a:srgbClr val="0B3D91"/>
                </a:solidFill>
                <a:latin typeface="Segoe UI"/>
              </a:rPr>
              <a:t>Endorse the Observability Strategy</a:t>
            </a:r>
            <a:r>
              <a:rPr sz="1700" dirty="0">
                <a:solidFill>
                  <a:srgbClr val="1F1F1F"/>
                </a:solidFill>
                <a:latin typeface="Segoe UI"/>
              </a:rPr>
              <a:t> as a twelve-month enterprise priority.</a:t>
            </a:r>
          </a:p>
        </p:txBody>
      </p:sp>
      <p:sp>
        <p:nvSpPr>
          <p:cNvPr id="9" name="Oval 8"/>
          <p:cNvSpPr/>
          <p:nvPr/>
        </p:nvSpPr>
        <p:spPr>
          <a:xfrm>
            <a:off x="502920" y="2510409"/>
            <a:ext cx="384048" cy="384048"/>
          </a:xfrm>
          <a:prstGeom prst="ellipse">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FFFFFF"/>
                </a:solidFill>
                <a:latin typeface="Segoe UI"/>
              </a:rPr>
              <a:t>2</a:t>
            </a:r>
          </a:p>
        </p:txBody>
      </p:sp>
      <p:sp>
        <p:nvSpPr>
          <p:cNvPr id="10" name="TextBox 9"/>
          <p:cNvSpPr txBox="1"/>
          <p:nvPr/>
        </p:nvSpPr>
        <p:spPr>
          <a:xfrm>
            <a:off x="1051560" y="2473833"/>
            <a:ext cx="10607040" cy="457200"/>
          </a:xfrm>
          <a:prstGeom prst="rect">
            <a:avLst/>
          </a:prstGeom>
          <a:noFill/>
        </p:spPr>
        <p:txBody>
          <a:bodyPr wrap="square" tIns="18288" bIns="18288" anchor="ctr">
            <a:spAutoFit/>
          </a:bodyPr>
          <a:lstStyle/>
          <a:p>
            <a:pPr algn="l"/>
            <a:r>
              <a:rPr sz="1700" b="1" dirty="0">
                <a:solidFill>
                  <a:srgbClr val="0B3D91"/>
                </a:solidFill>
                <a:latin typeface="Segoe UI"/>
              </a:rPr>
              <a:t>Ratify the foundational architectural decisions</a:t>
            </a:r>
            <a:r>
              <a:rPr sz="1700" dirty="0">
                <a:solidFill>
                  <a:srgbClr val="1F1F1F"/>
                </a:solidFill>
                <a:latin typeface="Segoe UI"/>
              </a:rPr>
              <a:t> that underpin the platform.</a:t>
            </a:r>
          </a:p>
        </p:txBody>
      </p:sp>
      <p:sp>
        <p:nvSpPr>
          <p:cNvPr id="11" name="Oval 10"/>
          <p:cNvSpPr/>
          <p:nvPr/>
        </p:nvSpPr>
        <p:spPr>
          <a:xfrm>
            <a:off x="502920" y="3115437"/>
            <a:ext cx="384048" cy="384048"/>
          </a:xfrm>
          <a:prstGeom prst="ellipse">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FFFFFF"/>
                </a:solidFill>
                <a:latin typeface="Segoe UI"/>
              </a:rPr>
              <a:t>3</a:t>
            </a:r>
          </a:p>
        </p:txBody>
      </p:sp>
      <p:sp>
        <p:nvSpPr>
          <p:cNvPr id="12" name="TextBox 11"/>
          <p:cNvSpPr txBox="1"/>
          <p:nvPr/>
        </p:nvSpPr>
        <p:spPr>
          <a:xfrm>
            <a:off x="1051560" y="3078861"/>
            <a:ext cx="10607040" cy="457200"/>
          </a:xfrm>
          <a:prstGeom prst="rect">
            <a:avLst/>
          </a:prstGeom>
          <a:noFill/>
        </p:spPr>
        <p:txBody>
          <a:bodyPr wrap="square" tIns="18288" bIns="18288" anchor="ctr">
            <a:spAutoFit/>
          </a:bodyPr>
          <a:lstStyle/>
          <a:p>
            <a:pPr algn="l"/>
            <a:r>
              <a:rPr sz="1700" b="1" dirty="0">
                <a:solidFill>
                  <a:srgbClr val="0B3D91"/>
                </a:solidFill>
                <a:latin typeface="Segoe UI"/>
              </a:rPr>
              <a:t>Approve the governance cadence</a:t>
            </a:r>
            <a:r>
              <a:rPr sz="1700" dirty="0">
                <a:solidFill>
                  <a:srgbClr val="1F1F1F"/>
                </a:solidFill>
                <a:latin typeface="Segoe UI"/>
              </a:rPr>
              <a:t> — with regular reporting to the Technology Committee.</a:t>
            </a:r>
          </a:p>
        </p:txBody>
      </p:sp>
      <p:sp>
        <p:nvSpPr>
          <p:cNvPr id="13" name="Oval 12"/>
          <p:cNvSpPr/>
          <p:nvPr/>
        </p:nvSpPr>
        <p:spPr>
          <a:xfrm>
            <a:off x="502920" y="3739515"/>
            <a:ext cx="384048" cy="384048"/>
          </a:xfrm>
          <a:prstGeom prst="ellipse">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FFFFFF"/>
                </a:solidFill>
                <a:latin typeface="Segoe UI"/>
              </a:rPr>
              <a:t>4</a:t>
            </a:r>
          </a:p>
        </p:txBody>
      </p:sp>
      <p:sp>
        <p:nvSpPr>
          <p:cNvPr id="14" name="TextBox 13"/>
          <p:cNvSpPr txBox="1"/>
          <p:nvPr/>
        </p:nvSpPr>
        <p:spPr>
          <a:xfrm>
            <a:off x="1051560" y="3702939"/>
            <a:ext cx="10607040" cy="457200"/>
          </a:xfrm>
          <a:prstGeom prst="rect">
            <a:avLst/>
          </a:prstGeom>
          <a:noFill/>
        </p:spPr>
        <p:txBody>
          <a:bodyPr wrap="square" tIns="18288" bIns="18288" anchor="ctr">
            <a:spAutoFit/>
          </a:bodyPr>
          <a:lstStyle/>
          <a:p>
            <a:pPr algn="l"/>
            <a:r>
              <a:rPr sz="1700" b="1" dirty="0">
                <a:solidFill>
                  <a:srgbClr val="0B3D91"/>
                </a:solidFill>
                <a:latin typeface="Segoe UI"/>
              </a:rPr>
              <a:t>Confirm the compliance scope</a:t>
            </a:r>
            <a:r>
              <a:rPr sz="1700" dirty="0">
                <a:solidFill>
                  <a:srgbClr val="1F1F1F"/>
                </a:solidFill>
                <a:latin typeface="Segoe UI"/>
              </a:rPr>
              <a:t> — SOC 2 Type II, ISO 27001, and GDPR as primary frameworks.</a:t>
            </a:r>
          </a:p>
        </p:txBody>
      </p:sp>
      <p:sp>
        <p:nvSpPr>
          <p:cNvPr id="15" name="Oval 14"/>
          <p:cNvSpPr/>
          <p:nvPr/>
        </p:nvSpPr>
        <p:spPr>
          <a:xfrm>
            <a:off x="502920" y="4325493"/>
            <a:ext cx="384048" cy="384048"/>
          </a:xfrm>
          <a:prstGeom prst="ellipse">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Segoe UI"/>
              </a:rPr>
              <a:t>5</a:t>
            </a:r>
          </a:p>
        </p:txBody>
      </p:sp>
      <p:sp>
        <p:nvSpPr>
          <p:cNvPr id="16" name="TextBox 15"/>
          <p:cNvSpPr txBox="1"/>
          <p:nvPr/>
        </p:nvSpPr>
        <p:spPr>
          <a:xfrm>
            <a:off x="1051560" y="4288917"/>
            <a:ext cx="10607040" cy="457200"/>
          </a:xfrm>
          <a:prstGeom prst="rect">
            <a:avLst/>
          </a:prstGeom>
          <a:noFill/>
        </p:spPr>
        <p:txBody>
          <a:bodyPr wrap="square" tIns="18288" bIns="18288" anchor="ctr">
            <a:spAutoFit/>
          </a:bodyPr>
          <a:lstStyle/>
          <a:p>
            <a:pPr algn="l"/>
            <a:r>
              <a:rPr sz="1700" b="1" dirty="0">
                <a:solidFill>
                  <a:srgbClr val="0B3D91"/>
                </a:solidFill>
                <a:latin typeface="Segoe UI"/>
              </a:rPr>
              <a:t>Authorize Phase 1 funding</a:t>
            </a:r>
            <a:r>
              <a:rPr sz="1700" dirty="0">
                <a:solidFill>
                  <a:srgbClr val="1F1F1F"/>
                </a:solidFill>
                <a:latin typeface="Segoe UI"/>
              </a:rPr>
              <a:t> within the existing platform budget envelope.</a:t>
            </a:r>
          </a:p>
        </p:txBody>
      </p:sp>
      <p:sp>
        <p:nvSpPr>
          <p:cNvPr id="17" name="Rectangle 16"/>
          <p:cNvSpPr/>
          <p:nvPr/>
        </p:nvSpPr>
        <p:spPr>
          <a:xfrm>
            <a:off x="457200" y="5532120"/>
            <a:ext cx="11247120" cy="77724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5663746"/>
            <a:ext cx="10607040" cy="513987"/>
          </a:xfrm>
          <a:prstGeom prst="rect">
            <a:avLst/>
          </a:prstGeom>
          <a:noFill/>
        </p:spPr>
        <p:txBody>
          <a:bodyPr wrap="square" lIns="45720" tIns="18288" rIns="45720" bIns="18288" anchor="ctr">
            <a:spAutoFit/>
          </a:bodyPr>
          <a:lstStyle/>
          <a:p>
            <a:pPr algn="l"/>
            <a:r>
              <a:rPr sz="1500" b="1" dirty="0">
                <a:solidFill>
                  <a:srgbClr val="FFFFFF"/>
                </a:solidFill>
                <a:latin typeface="Segoe UI"/>
              </a:rPr>
              <a:t>Outcome on approval:  Phase 1 commences immediately; the first outcomes report </a:t>
            </a:r>
            <a:r>
              <a:rPr sz="1600" b="1" dirty="0">
                <a:solidFill>
                  <a:srgbClr val="FFFFFF"/>
                </a:solidFill>
                <a:latin typeface="Segoe UI"/>
              </a:rPr>
              <a:t>is</a:t>
            </a:r>
            <a:r>
              <a:rPr sz="1500" b="1" dirty="0">
                <a:solidFill>
                  <a:srgbClr val="FFFFFF"/>
                </a:solidFill>
                <a:latin typeface="Segoe UI"/>
              </a:rPr>
              <a:t> delivered to the Board at the next quarterly review.</a:t>
            </a:r>
          </a:p>
        </p:txBody>
      </p:sp>
      <p:sp>
        <p:nvSpPr>
          <p:cNvPr id="19" name="Rectangle 18"/>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21" name="TextBox 20"/>
          <p:cNvSpPr txBox="1"/>
          <p:nvPr/>
        </p:nvSpPr>
        <p:spPr>
          <a:xfrm>
            <a:off x="10515600" y="6446520"/>
            <a:ext cx="1188720" cy="228600"/>
          </a:xfrm>
          <a:prstGeom prst="rect">
            <a:avLst/>
          </a:prstGeom>
          <a:noFill/>
        </p:spPr>
        <p:txBody>
          <a:bodyPr wrap="square" lIns="45720" tIns="18288" rIns="45720" bIns="18288" anchor="t">
            <a:spAutoFit/>
          </a:bodyPr>
          <a:lstStyle/>
          <a:p>
            <a:pPr algn="r"/>
            <a:fld id="{11111111-1111-1111-1111-111111111111}" type="slidenum">
              <a:rPr sz="1000" b="0">
                <a:solidFill>
                  <a:srgbClr val="555555"/>
                </a:solidFill>
                <a:latin typeface="Segoe UI"/>
              </a:rPr>
              <a:t>10</a:t>
            </a:fld>
            <a:endParaRPr sz="1000" b="0">
              <a:solidFill>
                <a:srgbClr val="555555"/>
              </a:solidFill>
              <a:latin typeface="Segoe UI"/>
            </a:endParaRPr>
          </a:p>
        </p:txBody>
      </p:sp>
      <p:sp>
        <p:nvSpPr>
          <p:cNvPr id="6" name="Rectangle 5">
            <a:extLst>
              <a:ext uri="{FF2B5EF4-FFF2-40B4-BE49-F238E27FC236}">
                <a16:creationId xmlns:a16="http://schemas.microsoft.com/office/drawing/2014/main" id="{BAFDB9F7-D0AA-6D57-1BE7-ED2DD38742D5}"/>
              </a:ext>
            </a:extLst>
          </p:cNvPr>
          <p:cNvSpPr/>
          <p:nvPr/>
        </p:nvSpPr>
        <p:spPr>
          <a:xfrm>
            <a:off x="-544286" y="526697"/>
            <a:ext cx="10265229" cy="5276088"/>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Remove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dirty="0">
                <a:solidFill>
                  <a:srgbClr val="0B3D91"/>
                </a:solidFill>
                <a:latin typeface="Segoe UI"/>
              </a:rPr>
              <a:t>Strategic Pillars — A Single Operating Standard</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828800"/>
            <a:ext cx="2697480" cy="237744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828800"/>
            <a:ext cx="2697480" cy="457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874520"/>
            <a:ext cx="2697480" cy="411480"/>
          </a:xfrm>
          <a:prstGeom prst="rect">
            <a:avLst/>
          </a:prstGeom>
          <a:noFill/>
        </p:spPr>
        <p:txBody>
          <a:bodyPr wrap="square" lIns="45720" tIns="18288" rIns="45720" bIns="18288" anchor="ctr">
            <a:spAutoFit/>
          </a:bodyPr>
          <a:lstStyle/>
          <a:p>
            <a:pPr algn="ctr"/>
            <a:r>
              <a:rPr sz="1800" b="1" dirty="0">
                <a:solidFill>
                  <a:srgbClr val="FFFFFF"/>
                </a:solidFill>
                <a:latin typeface="Segoe UI"/>
              </a:rPr>
              <a:t>Metrics</a:t>
            </a:r>
          </a:p>
        </p:txBody>
      </p:sp>
      <p:sp>
        <p:nvSpPr>
          <p:cNvPr id="9" name="TextBox 8"/>
          <p:cNvSpPr txBox="1"/>
          <p:nvPr/>
        </p:nvSpPr>
        <p:spPr>
          <a:xfrm>
            <a:off x="594360" y="2468880"/>
            <a:ext cx="2423160" cy="529376"/>
          </a:xfrm>
          <a:prstGeom prst="rect">
            <a:avLst/>
          </a:prstGeom>
          <a:noFill/>
        </p:spPr>
        <p:txBody>
          <a:bodyPr wrap="square" lIns="45720" tIns="18288" rIns="45720" bIns="18288" anchor="t">
            <a:spAutoFit/>
          </a:bodyPr>
          <a:lstStyle/>
          <a:p>
            <a:pPr algn="l"/>
            <a:r>
              <a:rPr sz="1600" b="0" dirty="0">
                <a:solidFill>
                  <a:srgbClr val="1F1F1F"/>
                </a:solidFill>
                <a:latin typeface="Segoe UI"/>
              </a:rPr>
              <a:t>What is happening across the estate in real time.</a:t>
            </a:r>
          </a:p>
        </p:txBody>
      </p:sp>
      <p:sp>
        <p:nvSpPr>
          <p:cNvPr id="10" name="Rectangle 9"/>
          <p:cNvSpPr/>
          <p:nvPr/>
        </p:nvSpPr>
        <p:spPr>
          <a:xfrm>
            <a:off x="3291840" y="1828800"/>
            <a:ext cx="2697480" cy="237744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91840" y="1828800"/>
            <a:ext cx="2697480" cy="457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91840" y="1874520"/>
            <a:ext cx="2697480" cy="411480"/>
          </a:xfrm>
          <a:prstGeom prst="rect">
            <a:avLst/>
          </a:prstGeom>
          <a:noFill/>
        </p:spPr>
        <p:txBody>
          <a:bodyPr wrap="square" lIns="45720" tIns="18288" rIns="45720" bIns="18288" anchor="ctr">
            <a:spAutoFit/>
          </a:bodyPr>
          <a:lstStyle/>
          <a:p>
            <a:pPr algn="ctr"/>
            <a:r>
              <a:rPr sz="1800" b="1">
                <a:solidFill>
                  <a:srgbClr val="FFFFFF"/>
                </a:solidFill>
                <a:latin typeface="Segoe UI"/>
              </a:rPr>
              <a:t>Logs</a:t>
            </a:r>
          </a:p>
        </p:txBody>
      </p:sp>
      <p:sp>
        <p:nvSpPr>
          <p:cNvPr id="13" name="TextBox 12"/>
          <p:cNvSpPr txBox="1"/>
          <p:nvPr/>
        </p:nvSpPr>
        <p:spPr>
          <a:xfrm>
            <a:off x="3429000" y="2468880"/>
            <a:ext cx="2423160" cy="529376"/>
          </a:xfrm>
          <a:prstGeom prst="rect">
            <a:avLst/>
          </a:prstGeom>
          <a:noFill/>
        </p:spPr>
        <p:txBody>
          <a:bodyPr wrap="square" lIns="45720" tIns="18288" rIns="45720" bIns="18288" anchor="t">
            <a:spAutoFit/>
          </a:bodyPr>
          <a:lstStyle/>
          <a:p>
            <a:pPr algn="l"/>
            <a:r>
              <a:rPr sz="1600" b="0">
                <a:solidFill>
                  <a:srgbClr val="1F1F1F"/>
                </a:solidFill>
                <a:latin typeface="Segoe UI"/>
              </a:rPr>
              <a:t>What was said — full forensic and audit value.</a:t>
            </a:r>
          </a:p>
        </p:txBody>
      </p:sp>
      <p:sp>
        <p:nvSpPr>
          <p:cNvPr id="14" name="Rectangle 13"/>
          <p:cNvSpPr/>
          <p:nvPr/>
        </p:nvSpPr>
        <p:spPr>
          <a:xfrm>
            <a:off x="6126480" y="1828800"/>
            <a:ext cx="2697480" cy="237744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26480" y="1828800"/>
            <a:ext cx="2697480" cy="457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26480" y="1874520"/>
            <a:ext cx="2697480" cy="411480"/>
          </a:xfrm>
          <a:prstGeom prst="rect">
            <a:avLst/>
          </a:prstGeom>
          <a:noFill/>
        </p:spPr>
        <p:txBody>
          <a:bodyPr wrap="square" lIns="45720" tIns="18288" rIns="45720" bIns="18288" anchor="ctr">
            <a:spAutoFit/>
          </a:bodyPr>
          <a:lstStyle/>
          <a:p>
            <a:pPr algn="ctr"/>
            <a:r>
              <a:rPr sz="1800" b="1">
                <a:solidFill>
                  <a:srgbClr val="FFFFFF"/>
                </a:solidFill>
                <a:latin typeface="Segoe UI"/>
              </a:rPr>
              <a:t>Traces</a:t>
            </a:r>
          </a:p>
        </p:txBody>
      </p:sp>
      <p:sp>
        <p:nvSpPr>
          <p:cNvPr id="17" name="TextBox 16"/>
          <p:cNvSpPr txBox="1"/>
          <p:nvPr/>
        </p:nvSpPr>
        <p:spPr>
          <a:xfrm>
            <a:off x="6263640" y="2468880"/>
            <a:ext cx="2423160" cy="775597"/>
          </a:xfrm>
          <a:prstGeom prst="rect">
            <a:avLst/>
          </a:prstGeom>
          <a:noFill/>
        </p:spPr>
        <p:txBody>
          <a:bodyPr wrap="square" lIns="45720" tIns="18288" rIns="45720" bIns="18288" anchor="t">
            <a:spAutoFit/>
          </a:bodyPr>
          <a:lstStyle/>
          <a:p>
            <a:pPr algn="l"/>
            <a:r>
              <a:rPr sz="1600" b="0">
                <a:solidFill>
                  <a:srgbClr val="1F1F1F"/>
                </a:solidFill>
                <a:latin typeface="Segoe UI"/>
              </a:rPr>
              <a:t>Where it happened, end-to-end across the customer journey.</a:t>
            </a:r>
          </a:p>
        </p:txBody>
      </p:sp>
      <p:sp>
        <p:nvSpPr>
          <p:cNvPr id="18" name="Rectangle 17"/>
          <p:cNvSpPr/>
          <p:nvPr/>
        </p:nvSpPr>
        <p:spPr>
          <a:xfrm>
            <a:off x="8961120" y="1828800"/>
            <a:ext cx="2697480" cy="237744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961120" y="1828800"/>
            <a:ext cx="2697480" cy="457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61120" y="1874520"/>
            <a:ext cx="2697480" cy="411480"/>
          </a:xfrm>
          <a:prstGeom prst="rect">
            <a:avLst/>
          </a:prstGeom>
          <a:noFill/>
        </p:spPr>
        <p:txBody>
          <a:bodyPr wrap="square" lIns="45720" tIns="18288" rIns="45720" bIns="18288" anchor="ctr">
            <a:spAutoFit/>
          </a:bodyPr>
          <a:lstStyle/>
          <a:p>
            <a:pPr algn="ctr"/>
            <a:r>
              <a:rPr lang="en-US" sz="1800" b="1" dirty="0">
                <a:solidFill>
                  <a:srgbClr val="FFFFFF"/>
                </a:solidFill>
                <a:latin typeface="Segoe UI"/>
              </a:rPr>
              <a:t>Business Insights</a:t>
            </a:r>
            <a:endParaRPr sz="1800" b="1" dirty="0">
              <a:solidFill>
                <a:srgbClr val="FFFFFF"/>
              </a:solidFill>
              <a:latin typeface="Segoe UI"/>
            </a:endParaRPr>
          </a:p>
        </p:txBody>
      </p:sp>
      <p:sp>
        <p:nvSpPr>
          <p:cNvPr id="21" name="TextBox 20"/>
          <p:cNvSpPr txBox="1"/>
          <p:nvPr/>
        </p:nvSpPr>
        <p:spPr>
          <a:xfrm>
            <a:off x="9098280" y="2468880"/>
            <a:ext cx="2423160" cy="775597"/>
          </a:xfrm>
          <a:prstGeom prst="rect">
            <a:avLst/>
          </a:prstGeom>
          <a:noFill/>
        </p:spPr>
        <p:txBody>
          <a:bodyPr wrap="square" lIns="45720" tIns="18288" rIns="45720" bIns="18288" anchor="t">
            <a:spAutoFit/>
          </a:bodyPr>
          <a:lstStyle/>
          <a:p>
            <a:pPr algn="l"/>
            <a:r>
              <a:rPr sz="1600" b="0">
                <a:solidFill>
                  <a:srgbClr val="1F1F1F"/>
                </a:solidFill>
                <a:latin typeface="Segoe UI"/>
              </a:rPr>
              <a:t>What it means in revenue, conversion, and customer experience.</a:t>
            </a:r>
          </a:p>
        </p:txBody>
      </p:sp>
      <p:sp>
        <p:nvSpPr>
          <p:cNvPr id="22" name="Rectangle 21"/>
          <p:cNvSpPr/>
          <p:nvPr/>
        </p:nvSpPr>
        <p:spPr>
          <a:xfrm>
            <a:off x="457200" y="4434840"/>
            <a:ext cx="11247120" cy="1371600"/>
          </a:xfrm>
          <a:prstGeom prst="rect">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3" name="Rectangle 22"/>
          <p:cNvSpPr/>
          <p:nvPr/>
        </p:nvSpPr>
        <p:spPr>
          <a:xfrm>
            <a:off x="457200" y="4434840"/>
            <a:ext cx="109728" cy="13716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4" name="TextBox 23"/>
          <p:cNvSpPr txBox="1"/>
          <p:nvPr/>
        </p:nvSpPr>
        <p:spPr>
          <a:xfrm>
            <a:off x="777240" y="4526280"/>
            <a:ext cx="10789920" cy="313932"/>
          </a:xfrm>
          <a:prstGeom prst="rect">
            <a:avLst/>
          </a:prstGeom>
          <a:noFill/>
        </p:spPr>
        <p:txBody>
          <a:bodyPr wrap="square" lIns="45720" tIns="18288" rIns="45720" bIns="18288" anchor="t">
            <a:spAutoFit/>
          </a:bodyPr>
          <a:lstStyle/>
          <a:p>
            <a:pPr algn="l"/>
            <a:r>
              <a:rPr b="1" dirty="0">
                <a:solidFill>
                  <a:srgbClr val="0B3D91"/>
                </a:solidFill>
                <a:latin typeface="Segoe UI"/>
              </a:rPr>
              <a:t>Foundation</a:t>
            </a:r>
          </a:p>
        </p:txBody>
      </p:sp>
      <p:sp>
        <p:nvSpPr>
          <p:cNvPr id="25" name="TextBox 24"/>
          <p:cNvSpPr txBox="1"/>
          <p:nvPr/>
        </p:nvSpPr>
        <p:spPr>
          <a:xfrm>
            <a:off x="777240" y="4892040"/>
            <a:ext cx="10789920" cy="529376"/>
          </a:xfrm>
          <a:prstGeom prst="rect">
            <a:avLst/>
          </a:prstGeom>
          <a:noFill/>
        </p:spPr>
        <p:txBody>
          <a:bodyPr wrap="square" lIns="45720" tIns="18288" rIns="45720" bIns="18288" anchor="t">
            <a:spAutoFit/>
          </a:bodyPr>
          <a:lstStyle/>
          <a:p>
            <a:pPr algn="l"/>
            <a:r>
              <a:rPr sz="1600" b="0" dirty="0">
                <a:solidFill>
                  <a:srgbClr val="1F1F1F"/>
                </a:solidFill>
                <a:latin typeface="Segoe UI"/>
              </a:rPr>
              <a:t>An open, vendor-neutral data standard — eliminates lock-in, future-proofs the investment, and lets us change tools without re-instrumenting every service.</a:t>
            </a:r>
          </a:p>
        </p:txBody>
      </p:sp>
      <p:sp>
        <p:nvSpPr>
          <p:cNvPr id="26" name="Rectangle 25"/>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28" name="TextBox 27"/>
          <p:cNvSpPr txBox="1"/>
          <p:nvPr/>
        </p:nvSpPr>
        <p:spPr>
          <a:xfrm>
            <a:off x="10515600" y="6446520"/>
            <a:ext cx="1188720" cy="228600"/>
          </a:xfrm>
          <a:prstGeom prst="rect">
            <a:avLst/>
          </a:prstGeom>
          <a:noFill/>
        </p:spPr>
        <p:txBody>
          <a:bodyPr wrap="square" lIns="45720" tIns="18288" rIns="45720" bIns="18288" anchor="t">
            <a:spAutoFit/>
          </a:bodyPr>
          <a:lstStyle/>
          <a:p>
            <a:pPr algn="r"/>
            <a:fld id="{11111111-1111-1111-1111-111111111111}" type="slidenum">
              <a:rPr sz="1000" b="0">
                <a:solidFill>
                  <a:srgbClr val="555555"/>
                </a:solidFill>
                <a:latin typeface="Segoe UI"/>
              </a:rPr>
              <a:t>11</a:t>
            </a:fld>
            <a:endParaRPr sz="1000" b="0">
              <a:solidFill>
                <a:srgbClr val="555555"/>
              </a:solidFill>
              <a:latin typeface="Segoe UI"/>
            </a:endParaRPr>
          </a:p>
        </p:txBody>
      </p:sp>
      <p:sp>
        <p:nvSpPr>
          <p:cNvPr id="29" name="Rectangle 28">
            <a:extLst>
              <a:ext uri="{FF2B5EF4-FFF2-40B4-BE49-F238E27FC236}">
                <a16:creationId xmlns:a16="http://schemas.microsoft.com/office/drawing/2014/main" id="{6C3C3995-DF44-271E-9A58-8FE661419B50}"/>
              </a:ext>
            </a:extLst>
          </p:cNvPr>
          <p:cNvSpPr/>
          <p:nvPr/>
        </p:nvSpPr>
        <p:spPr>
          <a:xfrm>
            <a:off x="6313714" y="526697"/>
            <a:ext cx="3407229" cy="1824617"/>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Appendix</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Business Value by Function</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3172093213"/>
              </p:ext>
            </p:extLst>
          </p:nvPr>
        </p:nvGraphicFramePr>
        <p:xfrm>
          <a:off x="457200" y="1737360"/>
          <a:ext cx="11247120" cy="420624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8046720">
                  <a:extLst>
                    <a:ext uri="{9D8B030D-6E8A-4147-A177-3AD203B41FA5}">
                      <a16:colId xmlns:a16="http://schemas.microsoft.com/office/drawing/2014/main" val="20001"/>
                    </a:ext>
                  </a:extLst>
                </a:gridCol>
              </a:tblGrid>
              <a:tr h="701040">
                <a:tc>
                  <a:txBody>
                    <a:bodyPr/>
                    <a:lstStyle/>
                    <a:p>
                      <a:pPr algn="l"/>
                      <a:r>
                        <a:rPr sz="1800" b="1" dirty="0">
                          <a:solidFill>
                            <a:srgbClr val="FFFFFF"/>
                          </a:solidFill>
                          <a:latin typeface="Segoe UI"/>
                        </a:rPr>
                        <a:t>Business Function</a:t>
                      </a:r>
                    </a:p>
                  </a:txBody>
                  <a:tcPr marT="54864" marB="54864" anchor="ctr">
                    <a:solidFill>
                      <a:srgbClr val="0B3D91"/>
                    </a:solidFill>
                  </a:tcPr>
                </a:tc>
                <a:tc>
                  <a:txBody>
                    <a:bodyPr/>
                    <a:lstStyle/>
                    <a:p>
                      <a:pPr algn="l"/>
                      <a:r>
                        <a:rPr sz="1800" b="1" dirty="0">
                          <a:solidFill>
                            <a:srgbClr val="FFFFFF"/>
                          </a:solidFill>
                          <a:latin typeface="Segoe UI"/>
                        </a:rPr>
                        <a:t>What Observability Delivers</a:t>
                      </a:r>
                    </a:p>
                  </a:txBody>
                  <a:tcPr marT="54864" marB="54864" anchor="ctr">
                    <a:solidFill>
                      <a:srgbClr val="0B3D91"/>
                    </a:solidFill>
                  </a:tcPr>
                </a:tc>
                <a:extLst>
                  <a:ext uri="{0D108BD9-81ED-4DB2-BD59-A6C34878D82A}">
                    <a16:rowId xmlns:a16="http://schemas.microsoft.com/office/drawing/2014/main" val="10000"/>
                  </a:ext>
                </a:extLst>
              </a:tr>
              <a:tr h="701040">
                <a:tc>
                  <a:txBody>
                    <a:bodyPr/>
                    <a:lstStyle/>
                    <a:p>
                      <a:pPr algn="l"/>
                      <a:r>
                        <a:rPr sz="1600" b="1" dirty="0">
                          <a:solidFill>
                            <a:srgbClr val="0B3D91"/>
                          </a:solidFill>
                          <a:latin typeface="Segoe UI"/>
                        </a:rPr>
                        <a:t>Underwriting</a:t>
                      </a:r>
                    </a:p>
                  </a:txBody>
                  <a:tcPr marT="54864" marB="54864" anchor="ctr">
                    <a:solidFill>
                      <a:srgbClr val="FFFFFF"/>
                    </a:solidFill>
                  </a:tcPr>
                </a:tc>
                <a:tc>
                  <a:txBody>
                    <a:bodyPr/>
                    <a:lstStyle/>
                    <a:p>
                      <a:pPr algn="l"/>
                      <a:r>
                        <a:rPr sz="1600" b="0" dirty="0">
                          <a:solidFill>
                            <a:srgbClr val="1F1F1F"/>
                          </a:solidFill>
                          <a:latin typeface="Segoe UI"/>
                        </a:rPr>
                        <a:t>Faster quote turnaround; fewer broker-facing service interruptions</a:t>
                      </a:r>
                    </a:p>
                  </a:txBody>
                  <a:tcPr marT="54864" marB="54864" anchor="ctr">
                    <a:solidFill>
                      <a:srgbClr val="FFFFFF"/>
                    </a:solidFill>
                  </a:tcPr>
                </a:tc>
                <a:extLst>
                  <a:ext uri="{0D108BD9-81ED-4DB2-BD59-A6C34878D82A}">
                    <a16:rowId xmlns:a16="http://schemas.microsoft.com/office/drawing/2014/main" val="10001"/>
                  </a:ext>
                </a:extLst>
              </a:tr>
              <a:tr h="701040">
                <a:tc>
                  <a:txBody>
                    <a:bodyPr/>
                    <a:lstStyle/>
                    <a:p>
                      <a:pPr algn="l"/>
                      <a:r>
                        <a:rPr sz="1600" b="1">
                          <a:solidFill>
                            <a:srgbClr val="0B3D91"/>
                          </a:solidFill>
                          <a:latin typeface="Segoe UI"/>
                        </a:rPr>
                        <a:t>Claims &amp; FNOL</a:t>
                      </a:r>
                    </a:p>
                  </a:txBody>
                  <a:tcPr marT="54864" marB="54864" anchor="ctr">
                    <a:solidFill>
                      <a:srgbClr val="EEF1F7"/>
                    </a:solidFill>
                  </a:tcPr>
                </a:tc>
                <a:tc>
                  <a:txBody>
                    <a:bodyPr/>
                    <a:lstStyle/>
                    <a:p>
                      <a:pPr algn="l"/>
                      <a:r>
                        <a:rPr sz="1600" b="0" dirty="0">
                          <a:solidFill>
                            <a:srgbClr val="1F1F1F"/>
                          </a:solidFill>
                          <a:latin typeface="Segoe UI"/>
                        </a:rPr>
                        <a:t>End-to-end visibility of the claim journey; SLA breaches anticipated, not reported</a:t>
                      </a:r>
                    </a:p>
                  </a:txBody>
                  <a:tcPr marT="54864" marB="54864" anchor="ctr">
                    <a:solidFill>
                      <a:srgbClr val="EEF1F7"/>
                    </a:solidFill>
                  </a:tcPr>
                </a:tc>
                <a:extLst>
                  <a:ext uri="{0D108BD9-81ED-4DB2-BD59-A6C34878D82A}">
                    <a16:rowId xmlns:a16="http://schemas.microsoft.com/office/drawing/2014/main" val="10002"/>
                  </a:ext>
                </a:extLst>
              </a:tr>
              <a:tr h="701040">
                <a:tc>
                  <a:txBody>
                    <a:bodyPr/>
                    <a:lstStyle/>
                    <a:p>
                      <a:pPr algn="l"/>
                      <a:r>
                        <a:rPr sz="1600" b="1">
                          <a:solidFill>
                            <a:srgbClr val="0B3D91"/>
                          </a:solidFill>
                          <a:latin typeface="Segoe UI"/>
                        </a:rPr>
                        <a:t>Customer Self-Service</a:t>
                      </a:r>
                    </a:p>
                  </a:txBody>
                  <a:tcPr marT="54864" marB="54864" anchor="ctr">
                    <a:solidFill>
                      <a:srgbClr val="FFFFFF"/>
                    </a:solidFill>
                  </a:tcPr>
                </a:tc>
                <a:tc>
                  <a:txBody>
                    <a:bodyPr/>
                    <a:lstStyle/>
                    <a:p>
                      <a:pPr algn="l"/>
                      <a:r>
                        <a:rPr sz="1600" b="0" dirty="0">
                          <a:solidFill>
                            <a:srgbClr val="1F1F1F"/>
                          </a:solidFill>
                          <a:latin typeface="Segoe UI"/>
                        </a:rPr>
                        <a:t>Portal degradation detected before customers experience or report it</a:t>
                      </a:r>
                    </a:p>
                  </a:txBody>
                  <a:tcPr marT="54864" marB="54864" anchor="ctr">
                    <a:solidFill>
                      <a:srgbClr val="FFFFFF"/>
                    </a:solidFill>
                  </a:tcPr>
                </a:tc>
                <a:extLst>
                  <a:ext uri="{0D108BD9-81ED-4DB2-BD59-A6C34878D82A}">
                    <a16:rowId xmlns:a16="http://schemas.microsoft.com/office/drawing/2014/main" val="10003"/>
                  </a:ext>
                </a:extLst>
              </a:tr>
              <a:tr h="701040">
                <a:tc>
                  <a:txBody>
                    <a:bodyPr/>
                    <a:lstStyle/>
                    <a:p>
                      <a:pPr algn="l"/>
                      <a:r>
                        <a:rPr sz="1600" b="1">
                          <a:solidFill>
                            <a:srgbClr val="0B3D91"/>
                          </a:solidFill>
                          <a:latin typeface="Segoe UI"/>
                        </a:rPr>
                        <a:t>Finance / CFO</a:t>
                      </a:r>
                    </a:p>
                  </a:txBody>
                  <a:tcPr marT="54864" marB="54864" anchor="ctr">
                    <a:solidFill>
                      <a:srgbClr val="EEF1F7"/>
                    </a:solidFill>
                  </a:tcPr>
                </a:tc>
                <a:tc>
                  <a:txBody>
                    <a:bodyPr/>
                    <a:lstStyle/>
                    <a:p>
                      <a:pPr algn="l"/>
                      <a:r>
                        <a:rPr sz="1600" b="0" dirty="0">
                          <a:solidFill>
                            <a:srgbClr val="1F1F1F"/>
                          </a:solidFill>
                          <a:latin typeface="Segoe UI"/>
                        </a:rPr>
                        <a:t>Cost transparency by transaction and line of business; basis for chargeback</a:t>
                      </a:r>
                    </a:p>
                  </a:txBody>
                  <a:tcPr marT="54864" marB="54864" anchor="ctr">
                    <a:solidFill>
                      <a:srgbClr val="EEF1F7"/>
                    </a:solidFill>
                  </a:tcPr>
                </a:tc>
                <a:extLst>
                  <a:ext uri="{0D108BD9-81ED-4DB2-BD59-A6C34878D82A}">
                    <a16:rowId xmlns:a16="http://schemas.microsoft.com/office/drawing/2014/main" val="10004"/>
                  </a:ext>
                </a:extLst>
              </a:tr>
              <a:tr h="701040">
                <a:tc>
                  <a:txBody>
                    <a:bodyPr/>
                    <a:lstStyle/>
                    <a:p>
                      <a:pPr algn="l"/>
                      <a:r>
                        <a:rPr sz="1600" b="1">
                          <a:solidFill>
                            <a:srgbClr val="0B3D91"/>
                          </a:solidFill>
                          <a:latin typeface="Segoe UI"/>
                        </a:rPr>
                        <a:t>Risk &amp; Compliance</a:t>
                      </a:r>
                    </a:p>
                  </a:txBody>
                  <a:tcPr marT="54864" marB="54864" anchor="ctr">
                    <a:solidFill>
                      <a:srgbClr val="FFFFFF"/>
                    </a:solidFill>
                  </a:tcPr>
                </a:tc>
                <a:tc>
                  <a:txBody>
                    <a:bodyPr/>
                    <a:lstStyle/>
                    <a:p>
                      <a:pPr algn="l"/>
                      <a:r>
                        <a:rPr sz="1600" b="0" dirty="0">
                          <a:solidFill>
                            <a:srgbClr val="1F1F1F"/>
                          </a:solidFill>
                          <a:latin typeface="Segoe UI"/>
                        </a:rPr>
                        <a:t>Continuous, auditable evidence for SOC 2, ISO 27001, and GDPR</a:t>
                      </a:r>
                    </a:p>
                  </a:txBody>
                  <a:tcPr marT="54864" marB="54864"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fld id="{11111111-1111-1111-1111-111111111111}" type="slidenum">
              <a:rPr sz="1000" b="0">
                <a:solidFill>
                  <a:srgbClr val="555555"/>
                </a:solidFill>
                <a:latin typeface="Segoe UI"/>
              </a:rPr>
              <a:t>12</a:t>
            </a:fld>
            <a:endParaRPr sz="1000" b="0">
              <a:solidFill>
                <a:srgbClr val="555555"/>
              </a:solidFill>
              <a:latin typeface="Segoe UI"/>
            </a:endParaRPr>
          </a:p>
        </p:txBody>
      </p:sp>
      <p:sp>
        <p:nvSpPr>
          <p:cNvPr id="10" name="Rectangle 9">
            <a:extLst>
              <a:ext uri="{FF2B5EF4-FFF2-40B4-BE49-F238E27FC236}">
                <a16:creationId xmlns:a16="http://schemas.microsoft.com/office/drawing/2014/main" id="{5B2A962E-EDED-5A26-D7F0-22DBE8B73021}"/>
              </a:ext>
            </a:extLst>
          </p:cNvPr>
          <p:cNvSpPr/>
          <p:nvPr/>
        </p:nvSpPr>
        <p:spPr>
          <a:xfrm>
            <a:off x="5524499" y="526697"/>
            <a:ext cx="5400675" cy="2102203"/>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solidFill>
                  <a:schemeClr val="lt1"/>
                </a:solidFill>
              </a:rPr>
              <a:t>This read like were an insurer which we are not</a:t>
            </a:r>
          </a:p>
          <a:p>
            <a:pPr algn="ctr"/>
            <a:endParaRPr lang="en-US" dirty="0"/>
          </a:p>
          <a:p>
            <a:pPr algn="ctr"/>
            <a:r>
              <a:rPr lang="en-US" dirty="0">
                <a:solidFill>
                  <a:schemeClr val="lt1"/>
                </a:solidFill>
              </a:rPr>
              <a:t>Needs total rethink or removal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0ea2e9a-ed1c-457b-8cb8-a3ba3a87d0ba}" enabled="1" method="Privileged" siteId="{7597b9d4-4dbf-4a04-888f-21d6563b1812}" contentBits="0" removed="0"/>
</clbl:labelList>
</file>

<file path=docProps/app.xml><?xml version="1.0" encoding="utf-8"?>
<Properties xmlns="http://schemas.openxmlformats.org/officeDocument/2006/extended-properties" xmlns:vt="http://schemas.openxmlformats.org/officeDocument/2006/docPropsVTypes">
  <TotalTime>183</TotalTime>
  <Words>2410</Words>
  <Application>Microsoft Office PowerPoint</Application>
  <PresentationFormat>Widescreen</PresentationFormat>
  <Paragraphs>171</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Anurag Thakur</cp:lastModifiedBy>
  <cp:revision>8</cp:revision>
  <dcterms:created xsi:type="dcterms:W3CDTF">2013-01-27T09:14:16Z</dcterms:created>
  <dcterms:modified xsi:type="dcterms:W3CDTF">2026-05-14T05:27:40Z</dcterms:modified>
  <cp:category/>
</cp:coreProperties>
</file>